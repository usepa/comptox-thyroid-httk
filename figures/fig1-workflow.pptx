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96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28CC1"/>
    <a:srgbClr val="6D9DCD"/>
    <a:srgbClr val="88AED8"/>
    <a:srgbClr val="A4C0E3"/>
    <a:srgbClr val="262673"/>
    <a:srgbClr val="7575D1"/>
    <a:srgbClr val="A3A3E0"/>
    <a:srgbClr val="D1D1F0"/>
    <a:srgbClr val="7030A0"/>
    <a:srgbClr val="2222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ruong, Kimberly" userId="925efed1-480b-4601-a542-5efebb98d46d" providerId="ADAL" clId="{2B89FEC1-C8C7-42CA-B874-CA36DB621456}"/>
    <pc:docChg chg="undo redo custSel modSld">
      <pc:chgData name="Truong, Kimberly" userId="925efed1-480b-4601-a542-5efebb98d46d" providerId="ADAL" clId="{2B89FEC1-C8C7-42CA-B874-CA36DB621456}" dt="2025-04-03T22:03:20.480" v="88" actId="554"/>
      <pc:docMkLst>
        <pc:docMk/>
      </pc:docMkLst>
      <pc:sldChg chg="addSp delSp modSp mod">
        <pc:chgData name="Truong, Kimberly" userId="925efed1-480b-4601-a542-5efebb98d46d" providerId="ADAL" clId="{2B89FEC1-C8C7-42CA-B874-CA36DB621456}" dt="2025-04-03T22:03:20.480" v="88" actId="554"/>
        <pc:sldMkLst>
          <pc:docMk/>
          <pc:sldMk cId="312177612" sldId="2969"/>
        </pc:sldMkLst>
        <pc:spChg chg="mod">
          <ac:chgData name="Truong, Kimberly" userId="925efed1-480b-4601-a542-5efebb98d46d" providerId="ADAL" clId="{2B89FEC1-C8C7-42CA-B874-CA36DB621456}" dt="2025-04-03T22:03:20.480" v="88" actId="554"/>
          <ac:spMkLst>
            <pc:docMk/>
            <pc:sldMk cId="312177612" sldId="2969"/>
            <ac:spMk id="15" creationId="{FAB754F1-85E0-422D-8F7A-B819C89A0AA5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6" creationId="{BDA81BDF-EE59-006A-8397-64567E2F85D6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7" creationId="{CBE42328-7860-4F4C-85FA-58954216A450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8" creationId="{BF75DEBA-C8B6-085A-65E7-BBBA27E3E5D7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19" creationId="{ECF95AB4-396B-1A30-C8A0-A2E3F380559B}"/>
          </ac:spMkLst>
        </pc:spChg>
        <pc:spChg chg="mod">
          <ac:chgData name="Truong, Kimberly" userId="925efed1-480b-4601-a542-5efebb98d46d" providerId="ADAL" clId="{2B89FEC1-C8C7-42CA-B874-CA36DB621456}" dt="2025-04-03T22:03:20.480" v="88" actId="554"/>
          <ac:spMkLst>
            <pc:docMk/>
            <pc:sldMk cId="312177612" sldId="2969"/>
            <ac:spMk id="21" creationId="{91236F16-7D03-A616-78BE-020B10C1213B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22" creationId="{1CF16134-8035-21CE-3EE6-ACE8B274FA65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23" creationId="{526748DC-44E9-4212-50E3-026AD11D55E9}"/>
          </ac:spMkLst>
        </pc:spChg>
        <pc:spChg chg="mod">
          <ac:chgData name="Truong, Kimberly" userId="925efed1-480b-4601-a542-5efebb98d46d" providerId="ADAL" clId="{2B89FEC1-C8C7-42CA-B874-CA36DB621456}" dt="2025-04-03T22:03:20.480" v="88" actId="554"/>
          <ac:spMkLst>
            <pc:docMk/>
            <pc:sldMk cId="312177612" sldId="2969"/>
            <ac:spMk id="29" creationId="{73DFA4F3-2CA7-9EEA-6D4E-9FC905F9B3C9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0" creationId="{FD89976F-3EAE-7A09-F64A-F156F72DA967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1" creationId="{C3D87C59-F48A-EC45-DF9C-F824CAC6FF58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3" creationId="{A0D4AF14-9207-5C3F-B95E-049705F81C39}"/>
          </ac:spMkLst>
        </pc:spChg>
        <pc:spChg chg="mod">
          <ac:chgData name="Truong, Kimberly" userId="925efed1-480b-4601-a542-5efebb98d46d" providerId="ADAL" clId="{2B89FEC1-C8C7-42CA-B874-CA36DB621456}" dt="2025-04-03T22:03:06.348" v="87" actId="465"/>
          <ac:spMkLst>
            <pc:docMk/>
            <pc:sldMk cId="312177612" sldId="2969"/>
            <ac:spMk id="39" creationId="{E23DF677-8AE5-1978-C3F5-A1221B5A4E43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40" creationId="{F14D9770-A517-F5A6-9A10-6319D6A5B643}"/>
          </ac:spMkLst>
        </pc:spChg>
        <pc:spChg chg="mod">
          <ac:chgData name="Truong, Kimberly" userId="925efed1-480b-4601-a542-5efebb98d46d" providerId="ADAL" clId="{2B89FEC1-C8C7-42CA-B874-CA36DB621456}" dt="2025-04-03T22:02:00.724" v="82" actId="12788"/>
          <ac:spMkLst>
            <pc:docMk/>
            <pc:sldMk cId="312177612" sldId="2969"/>
            <ac:spMk id="46" creationId="{87D014D5-3C9B-AA73-744A-0A1FF7E0B979}"/>
          </ac:spMkLst>
        </pc:spChg>
        <pc:spChg chg="mod">
          <ac:chgData name="Truong, Kimberly" userId="925efed1-480b-4601-a542-5efebb98d46d" providerId="ADAL" clId="{2B89FEC1-C8C7-42CA-B874-CA36DB621456}" dt="2025-04-03T22:03:20.480" v="88" actId="554"/>
          <ac:spMkLst>
            <pc:docMk/>
            <pc:sldMk cId="312177612" sldId="2969"/>
            <ac:spMk id="49" creationId="{A0391B82-E113-6052-F878-87AC64265015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56" creationId="{DE392B63-A87D-C137-5D27-F324F8012606}"/>
          </ac:spMkLst>
        </pc:spChg>
        <pc:spChg chg="mod">
          <ac:chgData name="Truong, Kimberly" userId="925efed1-480b-4601-a542-5efebb98d46d" providerId="ADAL" clId="{2B89FEC1-C8C7-42CA-B874-CA36DB621456}" dt="2025-04-03T21:48:21.082" v="18" actId="2711"/>
          <ac:spMkLst>
            <pc:docMk/>
            <pc:sldMk cId="312177612" sldId="2969"/>
            <ac:spMk id="57" creationId="{5C52125C-8ED8-7A5A-7DFD-C7FCDEED2B89}"/>
          </ac:spMkLst>
        </pc:spChg>
        <pc:spChg chg="mod">
          <ac:chgData name="Truong, Kimberly" userId="925efed1-480b-4601-a542-5efebb98d46d" providerId="ADAL" clId="{2B89FEC1-C8C7-42CA-B874-CA36DB621456}" dt="2025-04-03T22:02:16.762" v="83" actId="12788"/>
          <ac:spMkLst>
            <pc:docMk/>
            <pc:sldMk cId="312177612" sldId="2969"/>
            <ac:spMk id="77" creationId="{242C9CC5-770B-DEAA-D76C-9F1173E32D87}"/>
          </ac:spMkLst>
        </pc:spChg>
        <pc:spChg chg="mod">
          <ac:chgData name="Truong, Kimberly" userId="925efed1-480b-4601-a542-5efebb98d46d" providerId="ADAL" clId="{2B89FEC1-C8C7-42CA-B874-CA36DB621456}" dt="2025-04-03T22:02:16.762" v="83" actId="12788"/>
          <ac:spMkLst>
            <pc:docMk/>
            <pc:sldMk cId="312177612" sldId="2969"/>
            <ac:spMk id="78" creationId="{1B938B19-32C4-3727-C4F1-836C830105FC}"/>
          </ac:spMkLst>
        </pc:spChg>
        <pc:graphicFrameChg chg="add del mod">
          <ac:chgData name="Truong, Kimberly" userId="925efed1-480b-4601-a542-5efebb98d46d" providerId="ADAL" clId="{2B89FEC1-C8C7-42CA-B874-CA36DB621456}" dt="2025-04-03T18:38:18.585" v="14" actId="478"/>
          <ac:graphicFrameMkLst>
            <pc:docMk/>
            <pc:sldMk cId="312177612" sldId="2969"/>
            <ac:graphicFrameMk id="2" creationId="{E754F15A-A64A-5277-14C8-1F281AB7EDED}"/>
          </ac:graphicFrameMkLst>
        </pc:graphicFrameChg>
        <pc:graphicFrameChg chg="mod">
          <ac:chgData name="Truong, Kimberly" userId="925efed1-480b-4601-a542-5efebb98d46d" providerId="ADAL" clId="{2B89FEC1-C8C7-42CA-B874-CA36DB621456}" dt="2025-04-03T21:51:27.729" v="38" actId="2085"/>
          <ac:graphicFrameMkLst>
            <pc:docMk/>
            <pc:sldMk cId="312177612" sldId="2969"/>
            <ac:graphicFrameMk id="24" creationId="{EFF69940-0D6D-5518-442B-DBCC36EF3D3C}"/>
          </ac:graphicFrameMkLst>
        </pc:graphicFrameChg>
        <pc:cxnChg chg="mod">
          <ac:chgData name="Truong, Kimberly" userId="925efed1-480b-4601-a542-5efebb98d46d" providerId="ADAL" clId="{2B89FEC1-C8C7-42CA-B874-CA36DB621456}" dt="2025-04-03T21:50:00.887" v="32" actId="1036"/>
          <ac:cxnSpMkLst>
            <pc:docMk/>
            <pc:sldMk cId="312177612" sldId="2969"/>
            <ac:cxnSpMk id="89" creationId="{250BF3FB-AF8B-26FD-9AC5-2F679DA732BA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3">
  <dgm:title val=""/>
  <dgm:desc val=""/>
  <dgm:catLst>
    <dgm:cat type="accent5" pri="11300"/>
  </dgm:catLst>
  <dgm:styleLbl name="node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>
        <a:shade val="80000"/>
      </a:schemeClr>
      <a:schemeClr val="accent5">
        <a:tint val="7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/>
    <dgm:txEffectClrLst/>
  </dgm:styleLbl>
  <dgm:styleLbl name="lnNode1">
    <dgm:fillClrLst>
      <a:schemeClr val="accent5">
        <a:shade val="80000"/>
      </a:schemeClr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shade val="80000"/>
        <a:alpha val="50000"/>
      </a:schemeClr>
      <a:schemeClr val="accent5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/>
    <dgm:txEffectClrLst/>
  </dgm:styleLbl>
  <dgm:styleLbl name="f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5">
        <a:shade val="90000"/>
      </a:schemeClr>
      <a:schemeClr val="accent5">
        <a:tint val="70000"/>
      </a:schemeClr>
    </dgm:fillClrLst>
    <dgm:linClrLst>
      <a:schemeClr val="accent5">
        <a:shade val="90000"/>
      </a:schemeClr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5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>
        <a:tint val="90000"/>
      </a:schemeClr>
    </dgm:fillClrLst>
    <dgm:linClrLst meth="repeat">
      <a:schemeClr val="accent5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5">
        <a:tint val="50000"/>
      </a:schemeClr>
    </dgm:fillClrLst>
    <dgm:linClrLst meth="repeat">
      <a:schemeClr val="accent5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>
        <a:shade val="8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>
        <a:tint val="99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>
        <a:tint val="8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7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>
        <a:shade val="80000"/>
      </a:schemeClr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798DE-2A66-493C-A8E2-58BA05957B3D}" type="doc">
      <dgm:prSet loTypeId="urn:microsoft.com/office/officeart/2005/8/layout/chevron1" loCatId="process" qsTypeId="urn:microsoft.com/office/officeart/2005/8/quickstyle/simple1" qsCatId="simple" csTypeId="urn:microsoft.com/office/officeart/2005/8/colors/accent5_3" csCatId="accent5" phldr="1"/>
      <dgm:spPr/>
    </dgm:pt>
    <dgm:pt modelId="{DA375C72-9E17-40B9-B1F9-4AF75F123C9B}">
      <dgm:prSet phldrT="[Text]" custT="1"/>
      <dgm:spPr>
        <a:solidFill>
          <a:srgbClr val="A4C0E3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 1. Assay Data Compilation</a:t>
          </a:r>
        </a:p>
      </dgm:t>
    </dgm:pt>
    <dgm:pt modelId="{A81A6F52-4DD3-48DF-A896-E3B41A5BC5E0}" type="parTrans" cxnId="{7E080FCF-9B44-48E4-B3A5-DC27DCC756F1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FF82F44A-A601-4130-BA59-31C8895D108F}" type="sibTrans" cxnId="{7E080FCF-9B44-48E4-B3A5-DC27DCC756F1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4EAFDE17-8100-4432-86D3-36F2806EB45B}">
      <dgm:prSet phldrT="[Text]" custT="1"/>
      <dgm:spPr>
        <a:solidFill>
          <a:srgbClr val="88AED8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2. Assessment for Selectivity + Assay Interference</a:t>
          </a:r>
        </a:p>
      </dgm:t>
    </dgm:pt>
    <dgm:pt modelId="{735387B8-BD68-4EAD-B886-5840E98A3070}" type="parTrans" cxnId="{264DD9FE-83AE-48DD-AD38-D6AC53B2AF7A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7C2FCBCF-CDE6-4D80-BB6B-F758A9E3A1D2}" type="sibTrans" cxnId="{264DD9FE-83AE-48DD-AD38-D6AC53B2AF7A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4084CD10-640C-48D4-938D-E9A342D6DA05}">
      <dgm:prSet phldrT="[Text]" custT="1"/>
      <dgm:spPr>
        <a:solidFill>
          <a:srgbClr val="6D9DCD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3. Refinement</a:t>
          </a:r>
        </a:p>
      </dgm:t>
    </dgm:pt>
    <dgm:pt modelId="{5F23E477-E463-41A1-AB0E-C95CE2F42025}" type="parTrans" cxnId="{204E4ABD-D129-4BEE-9FF5-AE2429763208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51155D2A-F1DF-4404-989B-2165D6A74B03}" type="sibTrans" cxnId="{204E4ABD-D129-4BEE-9FF5-AE2429763208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7895EE14-1759-47C8-BE4B-302E464FCCBE}">
      <dgm:prSet custT="1"/>
      <dgm:spPr>
        <a:solidFill>
          <a:srgbClr val="528CC1"/>
        </a:solidFill>
        <a:ln>
          <a:noFill/>
        </a:ln>
      </dgm:spPr>
      <dgm:t>
        <a:bodyPr/>
        <a:lstStyle/>
        <a:p>
          <a:r>
            <a:rPr lang="en-US" sz="1800" b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4. Targeted bioactivity: exposure ratios</a:t>
          </a:r>
        </a:p>
      </dgm:t>
    </dgm:pt>
    <dgm:pt modelId="{B2C23EC7-D74F-4AF7-B64C-AD0A831505AF}" type="parTrans" cxnId="{95837261-1661-4D41-91B2-AF7813E23E56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F9BA7F7C-6E60-4674-8ACA-BB1185E5F3C9}" type="sibTrans" cxnId="{95837261-1661-4D41-91B2-AF7813E23E56}">
      <dgm:prSet/>
      <dgm:spPr/>
      <dgm:t>
        <a:bodyPr/>
        <a:lstStyle/>
        <a:p>
          <a:endParaRPr lang="en-US" sz="2000" b="0">
            <a:latin typeface="Avenir Next LT Pro" panose="020B0504020202020204" pitchFamily="34" charset="0"/>
            <a:cs typeface="Arial" panose="020B0604020202020204" pitchFamily="34" charset="0"/>
          </a:endParaRPr>
        </a:p>
      </dgm:t>
    </dgm:pt>
    <dgm:pt modelId="{A2094B74-9CA1-4399-AC06-25CB143D95BB}" type="pres">
      <dgm:prSet presAssocID="{2DB798DE-2A66-493C-A8E2-58BA05957B3D}" presName="Name0" presStyleCnt="0">
        <dgm:presLayoutVars>
          <dgm:dir/>
          <dgm:animLvl val="lvl"/>
          <dgm:resizeHandles val="exact"/>
        </dgm:presLayoutVars>
      </dgm:prSet>
      <dgm:spPr/>
    </dgm:pt>
    <dgm:pt modelId="{C817BD9E-3E33-484D-A8ED-C7E4053AA188}" type="pres">
      <dgm:prSet presAssocID="{DA375C72-9E17-40B9-B1F9-4AF75F123C9B}" presName="parTxOnly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A20E5AC-4AED-4106-8B7D-ADA01B8D0B32}" type="pres">
      <dgm:prSet presAssocID="{FF82F44A-A601-4130-BA59-31C8895D108F}" presName="parTxOnlySpace" presStyleCnt="0"/>
      <dgm:spPr/>
    </dgm:pt>
    <dgm:pt modelId="{1FC7B2B6-C892-4A02-A815-17E64CDB0E9F}" type="pres">
      <dgm:prSet presAssocID="{4EAFDE17-8100-4432-86D3-36F2806EB45B}" presName="parTxOnly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D750CD47-715E-4AE7-B31A-C55D78FDCC09}" type="pres">
      <dgm:prSet presAssocID="{7C2FCBCF-CDE6-4D80-BB6B-F758A9E3A1D2}" presName="parTxOnlySpace" presStyleCnt="0"/>
      <dgm:spPr/>
    </dgm:pt>
    <dgm:pt modelId="{ADB09BD5-FDE5-4565-B805-F8514E9B41D8}" type="pres">
      <dgm:prSet presAssocID="{4084CD10-640C-48D4-938D-E9A342D6DA05}" presName="parTxOnly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2651BD30-DAF6-4A83-85EE-51740FB8A229}" type="pres">
      <dgm:prSet presAssocID="{51155D2A-F1DF-4404-989B-2165D6A74B03}" presName="parTxOnlySpace" presStyleCnt="0"/>
      <dgm:spPr/>
    </dgm:pt>
    <dgm:pt modelId="{AC03897F-CF99-4275-9B69-5CD300EEF10F}" type="pres">
      <dgm:prSet presAssocID="{7895EE14-1759-47C8-BE4B-302E464FCCBE}" presName="parTxOnly" presStyleLbl="node1" presStyleIdx="3" presStyleCnt="4" custLinFactNeighborX="1719" custLinFactNeighborY="-388">
        <dgm:presLayoutVars>
          <dgm:chMax val="0"/>
          <dgm:chPref val="0"/>
          <dgm:bulletEnabled val="1"/>
        </dgm:presLayoutVars>
      </dgm:prSet>
      <dgm:spPr/>
    </dgm:pt>
  </dgm:ptLst>
  <dgm:cxnLst>
    <dgm:cxn modelId="{53A0BA2C-DC21-4F78-9664-54E61A467744}" type="presOf" srcId="{4EAFDE17-8100-4432-86D3-36F2806EB45B}" destId="{1FC7B2B6-C892-4A02-A815-17E64CDB0E9F}" srcOrd="0" destOrd="0" presId="urn:microsoft.com/office/officeart/2005/8/layout/chevron1"/>
    <dgm:cxn modelId="{95837261-1661-4D41-91B2-AF7813E23E56}" srcId="{2DB798DE-2A66-493C-A8E2-58BA05957B3D}" destId="{7895EE14-1759-47C8-BE4B-302E464FCCBE}" srcOrd="3" destOrd="0" parTransId="{B2C23EC7-D74F-4AF7-B64C-AD0A831505AF}" sibTransId="{F9BA7F7C-6E60-4674-8ACA-BB1185E5F3C9}"/>
    <dgm:cxn modelId="{BFD54B66-4238-4705-AAA1-DE978AF9B0A8}" type="presOf" srcId="{4084CD10-640C-48D4-938D-E9A342D6DA05}" destId="{ADB09BD5-FDE5-4565-B805-F8514E9B41D8}" srcOrd="0" destOrd="0" presId="urn:microsoft.com/office/officeart/2005/8/layout/chevron1"/>
    <dgm:cxn modelId="{3AF8BF8C-D28F-4460-A172-F50A7B40FAD3}" type="presOf" srcId="{DA375C72-9E17-40B9-B1F9-4AF75F123C9B}" destId="{C817BD9E-3E33-484D-A8ED-C7E4053AA188}" srcOrd="0" destOrd="0" presId="urn:microsoft.com/office/officeart/2005/8/layout/chevron1"/>
    <dgm:cxn modelId="{204E4ABD-D129-4BEE-9FF5-AE2429763208}" srcId="{2DB798DE-2A66-493C-A8E2-58BA05957B3D}" destId="{4084CD10-640C-48D4-938D-E9A342D6DA05}" srcOrd="2" destOrd="0" parTransId="{5F23E477-E463-41A1-AB0E-C95CE2F42025}" sibTransId="{51155D2A-F1DF-4404-989B-2165D6A74B03}"/>
    <dgm:cxn modelId="{D93575C3-48B0-41ED-990F-73FDFEEB9236}" type="presOf" srcId="{2DB798DE-2A66-493C-A8E2-58BA05957B3D}" destId="{A2094B74-9CA1-4399-AC06-25CB143D95BB}" srcOrd="0" destOrd="0" presId="urn:microsoft.com/office/officeart/2005/8/layout/chevron1"/>
    <dgm:cxn modelId="{7E080FCF-9B44-48E4-B3A5-DC27DCC756F1}" srcId="{2DB798DE-2A66-493C-A8E2-58BA05957B3D}" destId="{DA375C72-9E17-40B9-B1F9-4AF75F123C9B}" srcOrd="0" destOrd="0" parTransId="{A81A6F52-4DD3-48DF-A896-E3B41A5BC5E0}" sibTransId="{FF82F44A-A601-4130-BA59-31C8895D108F}"/>
    <dgm:cxn modelId="{264DD9FE-83AE-48DD-AD38-D6AC53B2AF7A}" srcId="{2DB798DE-2A66-493C-A8E2-58BA05957B3D}" destId="{4EAFDE17-8100-4432-86D3-36F2806EB45B}" srcOrd="1" destOrd="0" parTransId="{735387B8-BD68-4EAD-B886-5840E98A3070}" sibTransId="{7C2FCBCF-CDE6-4D80-BB6B-F758A9E3A1D2}"/>
    <dgm:cxn modelId="{EE73A5FF-D8FE-4178-9254-95AA65CA8793}" type="presOf" srcId="{7895EE14-1759-47C8-BE4B-302E464FCCBE}" destId="{AC03897F-CF99-4275-9B69-5CD300EEF10F}" srcOrd="0" destOrd="0" presId="urn:microsoft.com/office/officeart/2005/8/layout/chevron1"/>
    <dgm:cxn modelId="{2BB0AE78-1322-4C00-AE57-A160F4EDDDE9}" type="presParOf" srcId="{A2094B74-9CA1-4399-AC06-25CB143D95BB}" destId="{C817BD9E-3E33-484D-A8ED-C7E4053AA188}" srcOrd="0" destOrd="0" presId="urn:microsoft.com/office/officeart/2005/8/layout/chevron1"/>
    <dgm:cxn modelId="{98845813-AF5E-4497-BE9B-5229862E2233}" type="presParOf" srcId="{A2094B74-9CA1-4399-AC06-25CB143D95BB}" destId="{DA20E5AC-4AED-4106-8B7D-ADA01B8D0B32}" srcOrd="1" destOrd="0" presId="urn:microsoft.com/office/officeart/2005/8/layout/chevron1"/>
    <dgm:cxn modelId="{9478C7B2-FA3A-4260-B807-0C3017FFF434}" type="presParOf" srcId="{A2094B74-9CA1-4399-AC06-25CB143D95BB}" destId="{1FC7B2B6-C892-4A02-A815-17E64CDB0E9F}" srcOrd="2" destOrd="0" presId="urn:microsoft.com/office/officeart/2005/8/layout/chevron1"/>
    <dgm:cxn modelId="{A7F305B6-FD27-46D7-B5C2-188BE370EEBE}" type="presParOf" srcId="{A2094B74-9CA1-4399-AC06-25CB143D95BB}" destId="{D750CD47-715E-4AE7-B31A-C55D78FDCC09}" srcOrd="3" destOrd="0" presId="urn:microsoft.com/office/officeart/2005/8/layout/chevron1"/>
    <dgm:cxn modelId="{D18519AB-095D-4FC0-A22A-1402F0A79E9B}" type="presParOf" srcId="{A2094B74-9CA1-4399-AC06-25CB143D95BB}" destId="{ADB09BD5-FDE5-4565-B805-F8514E9B41D8}" srcOrd="4" destOrd="0" presId="urn:microsoft.com/office/officeart/2005/8/layout/chevron1"/>
    <dgm:cxn modelId="{1F59B862-1E85-476B-9FA7-5A14FC7CEB4B}" type="presParOf" srcId="{A2094B74-9CA1-4399-AC06-25CB143D95BB}" destId="{2651BD30-DAF6-4A83-85EE-51740FB8A229}" srcOrd="5" destOrd="0" presId="urn:microsoft.com/office/officeart/2005/8/layout/chevron1"/>
    <dgm:cxn modelId="{5485FF41-DE68-4257-BB8F-F211C2DF0EBB}" type="presParOf" srcId="{A2094B74-9CA1-4399-AC06-25CB143D95BB}" destId="{AC03897F-CF99-4275-9B69-5CD300EEF10F}" srcOrd="6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817BD9E-3E33-484D-A8ED-C7E4053AA188}">
      <dsp:nvSpPr>
        <dsp:cNvPr id="0" name=""/>
        <dsp:cNvSpPr/>
      </dsp:nvSpPr>
      <dsp:spPr>
        <a:xfrm>
          <a:off x="4948" y="1599598"/>
          <a:ext cx="2880350" cy="1152140"/>
        </a:xfrm>
        <a:prstGeom prst="chevron">
          <a:avLst/>
        </a:prstGeom>
        <a:solidFill>
          <a:srgbClr val="A4C0E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 1. Assay Data Compilation</a:t>
          </a:r>
        </a:p>
      </dsp:txBody>
      <dsp:txXfrm>
        <a:off x="581018" y="1599598"/>
        <a:ext cx="1728210" cy="1152140"/>
      </dsp:txXfrm>
    </dsp:sp>
    <dsp:sp modelId="{1FC7B2B6-C892-4A02-A815-17E64CDB0E9F}">
      <dsp:nvSpPr>
        <dsp:cNvPr id="0" name=""/>
        <dsp:cNvSpPr/>
      </dsp:nvSpPr>
      <dsp:spPr>
        <a:xfrm>
          <a:off x="2597263" y="1599598"/>
          <a:ext cx="2880350" cy="1152140"/>
        </a:xfrm>
        <a:prstGeom prst="chevron">
          <a:avLst/>
        </a:prstGeom>
        <a:solidFill>
          <a:srgbClr val="88AED8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2. Assessment for Selectivity + Assay Interference</a:t>
          </a:r>
        </a:p>
      </dsp:txBody>
      <dsp:txXfrm>
        <a:off x="3173333" y="1599598"/>
        <a:ext cx="1728210" cy="1152140"/>
      </dsp:txXfrm>
    </dsp:sp>
    <dsp:sp modelId="{ADB09BD5-FDE5-4565-B805-F8514E9B41D8}">
      <dsp:nvSpPr>
        <dsp:cNvPr id="0" name=""/>
        <dsp:cNvSpPr/>
      </dsp:nvSpPr>
      <dsp:spPr>
        <a:xfrm>
          <a:off x="5189578" y="1599598"/>
          <a:ext cx="2880350" cy="1152140"/>
        </a:xfrm>
        <a:prstGeom prst="chevron">
          <a:avLst/>
        </a:prstGeom>
        <a:solidFill>
          <a:srgbClr val="6D9DCD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3. Refinement</a:t>
          </a:r>
        </a:p>
      </dsp:txBody>
      <dsp:txXfrm>
        <a:off x="5765648" y="1599598"/>
        <a:ext cx="1728210" cy="1152140"/>
      </dsp:txXfrm>
    </dsp:sp>
    <dsp:sp modelId="{AC03897F-CF99-4275-9B69-5CD300EEF10F}">
      <dsp:nvSpPr>
        <dsp:cNvPr id="0" name=""/>
        <dsp:cNvSpPr/>
      </dsp:nvSpPr>
      <dsp:spPr>
        <a:xfrm>
          <a:off x="7786842" y="1595128"/>
          <a:ext cx="2880350" cy="1152140"/>
        </a:xfrm>
        <a:prstGeom prst="chevron">
          <a:avLst/>
        </a:prstGeom>
        <a:solidFill>
          <a:srgbClr val="528CC1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009" tIns="24003" rIns="24003" bIns="24003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venir Next LT Pro" panose="020B0504020202020204" pitchFamily="34" charset="0"/>
              <a:cs typeface="Arial" panose="020B0604020202020204" pitchFamily="34" charset="0"/>
            </a:rPr>
            <a:t>4. Targeted bioactivity: exposure ratios</a:t>
          </a:r>
        </a:p>
      </dsp:txBody>
      <dsp:txXfrm>
        <a:off x="8362912" y="1595128"/>
        <a:ext cx="1728210" cy="11521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3D3CB6-AF3F-41A8-820D-FF52D5A0F9BD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2B0ACF-6B84-495D-8BF7-818A49761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974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AFE8F6-8F28-4C32-8423-0DBD2EE86A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7301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DA335-68E5-42B9-36A3-F7E56AE6C0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357879-34C8-2ED1-617E-640B087056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0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97F00-2CF5-973B-0F5F-07DC9119D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11F37-F37F-F56C-9BFE-707F266A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F1D51-B73A-9F72-2D42-E3C790A14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872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F2E39-2DBE-2070-E06B-7DED17D11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DB7C7E-8078-8436-F04C-67BF21AD6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0BEF89-84AA-BCD1-F6BE-10C0598D6C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1ED00C-1DD6-0C72-DA39-1FFB60414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9CEC2-41BC-4688-545B-BB65C935E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52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8E3BF-DDF0-8D7C-895C-9B8506793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2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B1B53-CDB1-950D-6C93-E9193A7AFC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2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6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2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50BC2-F884-C849-D2DD-8476F3D87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42D90-E440-F29C-C221-87D08CA0F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FEB6-0462-EBC8-BC6E-30C0C9DA4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536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E2CC5-D8C2-23BA-B504-4422E9029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4F3A0-32F0-623B-1C5D-EB30978E13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43BD3D-8AE1-6961-932A-006261C868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65E41-818B-080B-9155-05E526222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BB93B-65F2-8D3D-599A-ECD88E62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917B4-1F7F-6CF4-6CAD-D07C2660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8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E453C-114D-775C-BDFD-93EDEFE73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135616-292D-7662-1E6F-8D70088EBE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9C4A4B-AB3A-B757-0BA2-FE47490AF2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6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7D2B49-8FF3-1359-313A-72A0CCBB29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6" indent="0">
              <a:buNone/>
              <a:defRPr sz="2000" b="1"/>
            </a:lvl2pPr>
            <a:lvl3pPr marL="914411" indent="0">
              <a:buNone/>
              <a:defRPr sz="1800" b="1"/>
            </a:lvl3pPr>
            <a:lvl4pPr marL="1371617" indent="0">
              <a:buNone/>
              <a:defRPr sz="1600" b="1"/>
            </a:lvl4pPr>
            <a:lvl5pPr marL="1828823" indent="0">
              <a:buNone/>
              <a:defRPr sz="1600" b="1"/>
            </a:lvl5pPr>
            <a:lvl6pPr marL="2286029" indent="0">
              <a:buNone/>
              <a:defRPr sz="1600" b="1"/>
            </a:lvl6pPr>
            <a:lvl7pPr marL="2743234" indent="0">
              <a:buNone/>
              <a:defRPr sz="1600" b="1"/>
            </a:lvl7pPr>
            <a:lvl8pPr marL="3200440" indent="0">
              <a:buNone/>
              <a:defRPr sz="1600" b="1"/>
            </a:lvl8pPr>
            <a:lvl9pPr marL="3657646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7C3D3-06FB-2C40-319A-DC097A0AF8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6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5A3BA7E-2966-A14A-30ED-882310347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D551E5-F81D-20C5-1DB7-325D6CCD5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D56CA9-FAA7-9E75-340B-61BC06BC1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20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55B48-4564-3E70-CF5E-8359BC6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981B84-C8B0-3051-89A7-B5A39D27D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C082D0-72BE-486C-3B41-7D4C3E784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100B71-05AB-8FCB-99E1-4705D4EA5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381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C44B27-C1C6-D47C-E3A4-BEC19423C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2C3CE6-E09E-F0FF-99EB-127BDCBEF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DFAF1-1D17-5BAD-40B8-870C50762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513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99C40-6ADE-996A-8DD5-0D137428C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CC562-B036-1C4F-FA62-FC6AD476B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1FC02B-A3EA-233D-8003-772739743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0E1FE5-B714-995D-A183-B228314EA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56FB8B-1BA9-2A2C-6687-60454198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1213E7-F28F-FE23-1CBC-9E0D4D624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98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0296A4-3922-66D2-39AB-038FB8777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D31098-7006-819B-9148-2BB55093A5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1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6" indent="0">
              <a:buNone/>
              <a:defRPr sz="2800"/>
            </a:lvl2pPr>
            <a:lvl3pPr marL="914411" indent="0">
              <a:buNone/>
              <a:defRPr sz="2400"/>
            </a:lvl3pPr>
            <a:lvl4pPr marL="1371617" indent="0">
              <a:buNone/>
              <a:defRPr sz="2000"/>
            </a:lvl4pPr>
            <a:lvl5pPr marL="1828823" indent="0">
              <a:buNone/>
              <a:defRPr sz="2000"/>
            </a:lvl5pPr>
            <a:lvl6pPr marL="2286029" indent="0">
              <a:buNone/>
              <a:defRPr sz="2000"/>
            </a:lvl6pPr>
            <a:lvl7pPr marL="2743234" indent="0">
              <a:buNone/>
              <a:defRPr sz="2000"/>
            </a:lvl7pPr>
            <a:lvl8pPr marL="3200440" indent="0">
              <a:buNone/>
              <a:defRPr sz="2000"/>
            </a:lvl8pPr>
            <a:lvl9pPr marL="3657646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90F90-C228-55EC-436B-CD72F2A5FD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0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6" indent="0">
              <a:buNone/>
              <a:defRPr sz="1400"/>
            </a:lvl2pPr>
            <a:lvl3pPr marL="914411" indent="0">
              <a:buNone/>
              <a:defRPr sz="1200"/>
            </a:lvl3pPr>
            <a:lvl4pPr marL="1371617" indent="0">
              <a:buNone/>
              <a:defRPr sz="1000"/>
            </a:lvl4pPr>
            <a:lvl5pPr marL="1828823" indent="0">
              <a:buNone/>
              <a:defRPr sz="1000"/>
            </a:lvl5pPr>
            <a:lvl6pPr marL="2286029" indent="0">
              <a:buNone/>
              <a:defRPr sz="1000"/>
            </a:lvl6pPr>
            <a:lvl7pPr marL="2743234" indent="0">
              <a:buNone/>
              <a:defRPr sz="1000"/>
            </a:lvl7pPr>
            <a:lvl8pPr marL="3200440" indent="0">
              <a:buNone/>
              <a:defRPr sz="1000"/>
            </a:lvl8pPr>
            <a:lvl9pPr marL="3657646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94EED7-6C5E-A959-3775-1361CD94C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8E5364-2F19-A234-C664-FBD5055FD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AA3314-F938-9369-1F0B-A372DC22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838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F8754-1E3B-2503-3FC3-9D9328B31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6B484F-7DC6-E4D9-7956-7E979AB9C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5C76B-11E4-B203-F2E5-01504AE78E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64900C-F4D4-4CE0-5C5C-DAD37CA1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DD3FC-909E-0ECF-80BB-610EBB4A8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077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BF93A4-5C72-14FB-78C2-83086FBC65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899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C296D4-7A9E-9975-FF2A-C355FCAF7F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34141-23B2-F400-6AD3-35E359073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B6BB8C-48CF-FB91-D198-7016087E3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06F86-D987-9204-61CA-A630E781F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0078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EC08B3-E356-D353-92E4-4401330CE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2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192C65-9DA0-8970-3952-B6DF1B72A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2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BF0C25-307F-BEDB-E976-9A56AFEA5E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45729E-DEA5-4458-8279-F005B7149335}" type="datetimeFigureOut">
              <a:rPr lang="en-US" smtClean="0"/>
              <a:t>4/3/2025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C61FB-E363-B4B8-03B6-8EB12DE68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2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2E0A1-795C-68D4-4C87-50C3A4BFF4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B9177-35A1-43A1-8C5D-2D8206753A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980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1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3" indent="-228603" algn="l" defTabSz="914411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14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20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26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32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37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43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48" indent="-228603" algn="l" defTabSz="914411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1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17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23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29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34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40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46" algn="l" defTabSz="91441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8C2D6F6-3A28-4662-00C5-DC1BAB7FDF85}"/>
              </a:ext>
            </a:extLst>
          </p:cNvPr>
          <p:cNvCxnSpPr>
            <a:cxnSpLocks/>
          </p:cNvCxnSpPr>
          <p:nvPr/>
        </p:nvCxnSpPr>
        <p:spPr>
          <a:xfrm>
            <a:off x="3304283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Content Placeholder 3">
            <a:extLst>
              <a:ext uri="{FF2B5EF4-FFF2-40B4-BE49-F238E27FC236}">
                <a16:creationId xmlns:a16="http://schemas.microsoft.com/office/drawing/2014/main" id="{EFF69940-0D6D-5518-442B-DBCC36EF3D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8109854"/>
              </p:ext>
            </p:extLst>
          </p:nvPr>
        </p:nvGraphicFramePr>
        <p:xfrm>
          <a:off x="811282" y="-1149494"/>
          <a:ext cx="10667193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0" name="TextBox 39">
            <a:extLst>
              <a:ext uri="{FF2B5EF4-FFF2-40B4-BE49-F238E27FC236}">
                <a16:creationId xmlns:a16="http://schemas.microsoft.com/office/drawing/2014/main" id="{F14D9770-A517-F5A6-9A10-6319D6A5B643}"/>
              </a:ext>
            </a:extLst>
          </p:cNvPr>
          <p:cNvSpPr txBox="1"/>
          <p:nvPr/>
        </p:nvSpPr>
        <p:spPr>
          <a:xfrm>
            <a:off x="8705946" y="5901041"/>
            <a:ext cx="29670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venir Next LT Pro" panose="020B0504020202020204" pitchFamily="34" charset="0"/>
                <a:cs typeface="Calibri" panose="020F0502020204030204" pitchFamily="34" charset="0"/>
              </a:rPr>
              <a:t>17 chemicals with no </a:t>
            </a:r>
            <a:r>
              <a:rPr lang="en-US" sz="1400" i="1" dirty="0">
                <a:latin typeface="Avenir Next LT Pro" panose="020B0504020202020204" pitchFamily="34" charset="0"/>
                <a:cs typeface="Calibri" panose="020F0502020204030204" pitchFamily="34" charset="0"/>
              </a:rPr>
              <a:t>in vitro </a:t>
            </a:r>
            <a:r>
              <a:rPr lang="en-US" sz="1400" dirty="0">
                <a:latin typeface="Avenir Next LT Pro" panose="020B0504020202020204" pitchFamily="34" charset="0"/>
                <a:cs typeface="Calibri" panose="020F0502020204030204" pitchFamily="34" charset="0"/>
              </a:rPr>
              <a:t>toxicokinetic parameters for </a:t>
            </a:r>
            <a:r>
              <a:rPr lang="en-US" sz="1400" i="1" dirty="0" err="1">
                <a:latin typeface="Avenir Next LT Pro" panose="020B0504020202020204" pitchFamily="34" charset="0"/>
                <a:cs typeface="Calibri" panose="020F0502020204030204" pitchFamily="34" charset="0"/>
              </a:rPr>
              <a:t>httk</a:t>
            </a:r>
            <a:endParaRPr lang="en-US" sz="1400" i="1" dirty="0">
              <a:latin typeface="Avenir Next LT Pro" panose="020B05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Flowchart: Manual Operation 15">
            <a:extLst>
              <a:ext uri="{FF2B5EF4-FFF2-40B4-BE49-F238E27FC236}">
                <a16:creationId xmlns:a16="http://schemas.microsoft.com/office/drawing/2014/main" id="{BDA81BDF-EE59-006A-8397-64567E2F85D6}"/>
              </a:ext>
            </a:extLst>
          </p:cNvPr>
          <p:cNvSpPr/>
          <p:nvPr/>
        </p:nvSpPr>
        <p:spPr>
          <a:xfrm rot="16200000">
            <a:off x="3967622" y="4222032"/>
            <a:ext cx="1264123" cy="2362264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17" name="Flowchart: Manual Operation 16">
            <a:extLst>
              <a:ext uri="{FF2B5EF4-FFF2-40B4-BE49-F238E27FC236}">
                <a16:creationId xmlns:a16="http://schemas.microsoft.com/office/drawing/2014/main" id="{CBE42328-7860-4F4C-85FA-58954216A450}"/>
              </a:ext>
            </a:extLst>
          </p:cNvPr>
          <p:cNvSpPr/>
          <p:nvPr/>
        </p:nvSpPr>
        <p:spPr>
          <a:xfrm rot="16200000">
            <a:off x="941940" y="4215970"/>
            <a:ext cx="2161770" cy="2359955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18" name="Flowchart: Manual Operation 17">
            <a:extLst>
              <a:ext uri="{FF2B5EF4-FFF2-40B4-BE49-F238E27FC236}">
                <a16:creationId xmlns:a16="http://schemas.microsoft.com/office/drawing/2014/main" id="{BF75DEBA-C8B6-085A-65E7-BBBA27E3E5D7}"/>
              </a:ext>
            </a:extLst>
          </p:cNvPr>
          <p:cNvSpPr/>
          <p:nvPr/>
        </p:nvSpPr>
        <p:spPr>
          <a:xfrm rot="16200000">
            <a:off x="6801008" y="4182942"/>
            <a:ext cx="730679" cy="2424224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F95AB4-396B-1A30-C8A0-A2E3F380559B}"/>
              </a:ext>
            </a:extLst>
          </p:cNvPr>
          <p:cNvSpPr txBox="1"/>
          <p:nvPr/>
        </p:nvSpPr>
        <p:spPr>
          <a:xfrm>
            <a:off x="1350537" y="5103560"/>
            <a:ext cx="13445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venir Next LT Pro" panose="020B0504020202020204" pitchFamily="34" charset="0"/>
              </a:rPr>
              <a:t>285 Positive Chemicals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F16134-8035-21CE-3EE6-ACE8B274FA65}"/>
              </a:ext>
            </a:extLst>
          </p:cNvPr>
          <p:cNvSpPr txBox="1"/>
          <p:nvPr/>
        </p:nvSpPr>
        <p:spPr>
          <a:xfrm>
            <a:off x="3722671" y="5218498"/>
            <a:ext cx="1754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venir Next LT Pro" panose="020B0504020202020204" pitchFamily="34" charset="0"/>
              </a:rPr>
              <a:t> </a:t>
            </a:r>
            <a:r>
              <a:rPr lang="en-US" sz="1600" dirty="0">
                <a:latin typeface="Avenir Next LT Pro" panose="020B0504020202020204" pitchFamily="34" charset="0"/>
              </a:rPr>
              <a:t>135 Chemicals</a:t>
            </a:r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6748DC-44E9-4212-50E3-026AD11D55E9}"/>
              </a:ext>
            </a:extLst>
          </p:cNvPr>
          <p:cNvSpPr txBox="1"/>
          <p:nvPr/>
        </p:nvSpPr>
        <p:spPr>
          <a:xfrm>
            <a:off x="6369051" y="5225777"/>
            <a:ext cx="15945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venir Next LT Pro" panose="020B0504020202020204" pitchFamily="34" charset="0"/>
              </a:rPr>
              <a:t>120 Chemicals</a:t>
            </a:r>
          </a:p>
        </p:txBody>
      </p:sp>
      <p:sp>
        <p:nvSpPr>
          <p:cNvPr id="56" name="Flowchart: Manual Operation 55">
            <a:extLst>
              <a:ext uri="{FF2B5EF4-FFF2-40B4-BE49-F238E27FC236}">
                <a16:creationId xmlns:a16="http://schemas.microsoft.com/office/drawing/2014/main" id="{DE392B63-A87D-C137-5D27-F324F8012606}"/>
              </a:ext>
            </a:extLst>
          </p:cNvPr>
          <p:cNvSpPr/>
          <p:nvPr/>
        </p:nvSpPr>
        <p:spPr>
          <a:xfrm rot="16200000">
            <a:off x="9538922" y="4174623"/>
            <a:ext cx="438912" cy="2440861"/>
          </a:xfrm>
          <a:prstGeom prst="flowChartManualOperation">
            <a:avLst/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Avenir Next LT Pro" panose="020B05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52125C-8ED8-7A5A-7DFD-C7FCDEED2B89}"/>
              </a:ext>
            </a:extLst>
          </p:cNvPr>
          <p:cNvSpPr txBox="1"/>
          <p:nvPr/>
        </p:nvSpPr>
        <p:spPr>
          <a:xfrm>
            <a:off x="8902345" y="5225776"/>
            <a:ext cx="17120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Avenir Next LT Pro" panose="020B0504020202020204" pitchFamily="34" charset="0"/>
              </a:rPr>
              <a:t>103 Chemicals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754F1-85E0-422D-8F7A-B819C89A0AA5}"/>
              </a:ext>
            </a:extLst>
          </p:cNvPr>
          <p:cNvSpPr txBox="1"/>
          <p:nvPr/>
        </p:nvSpPr>
        <p:spPr>
          <a:xfrm>
            <a:off x="3429551" y="1901626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venir Next LT Pro" panose="020B0504020202020204" pitchFamily="34" charset="0"/>
              </a:rPr>
              <a:t>Verify “selectivity” even for cell-free assays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236F16-7D03-A616-78BE-020B10C1213B}"/>
              </a:ext>
            </a:extLst>
          </p:cNvPr>
          <p:cNvSpPr txBox="1"/>
          <p:nvPr/>
        </p:nvSpPr>
        <p:spPr>
          <a:xfrm>
            <a:off x="6037080" y="1901626"/>
            <a:ext cx="22362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49 DIO1 inhibitors, </a:t>
            </a:r>
          </a:p>
          <a:p>
            <a:pPr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55 DIO2 inhibitors, </a:t>
            </a:r>
          </a:p>
          <a:p>
            <a:pPr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79 DIO3 inhibitors, </a:t>
            </a:r>
          </a:p>
          <a:p>
            <a:pPr defTabSz="914411">
              <a:defRPr/>
            </a:pPr>
            <a:r>
              <a:rPr lang="en-US" sz="1400" kern="0" dirty="0">
                <a:solidFill>
                  <a:prstClr val="black"/>
                </a:solidFill>
                <a:latin typeface="Avenir Next LT Pro" panose="020B0504020202020204" pitchFamily="34" charset="0"/>
                <a:cs typeface="Calibri" panose="020F0502020204030204" pitchFamily="34" charset="0"/>
              </a:rPr>
              <a:t>12 IYD inhibitors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DFA4F3-2CA7-9EEA-6D4E-9FC905F9B3C9}"/>
              </a:ext>
            </a:extLst>
          </p:cNvPr>
          <p:cNvSpPr txBox="1"/>
          <p:nvPr/>
        </p:nvSpPr>
        <p:spPr>
          <a:xfrm>
            <a:off x="849984" y="1901626"/>
            <a:ext cx="2426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2007 total chemicals screened in single-conc (</a:t>
            </a:r>
            <a:r>
              <a:rPr lang="en-US" sz="1400" dirty="0" err="1">
                <a:latin typeface="Avenir Next LT Pro" panose="020B0504020202020204" pitchFamily="34" charset="0"/>
              </a:rPr>
              <a:t>sc</a:t>
            </a:r>
            <a:r>
              <a:rPr lang="en-US" sz="1400" dirty="0">
                <a:latin typeface="Avenir Next LT Pro" panose="020B0504020202020204" pitchFamily="34" charset="0"/>
              </a:rPr>
              <a:t>)</a:t>
            </a:r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FD89976F-3EAE-7A09-F64A-F156F72DA967}"/>
              </a:ext>
            </a:extLst>
          </p:cNvPr>
          <p:cNvSpPr/>
          <p:nvPr/>
        </p:nvSpPr>
        <p:spPr>
          <a:xfrm flipV="1">
            <a:off x="1963955" y="2466276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D87C59-F48A-EC45-DF9C-F824CAC6FF58}"/>
              </a:ext>
            </a:extLst>
          </p:cNvPr>
          <p:cNvSpPr txBox="1"/>
          <p:nvPr/>
        </p:nvSpPr>
        <p:spPr>
          <a:xfrm>
            <a:off x="891372" y="2680755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523 chemicals with &gt;20% inhibition in at least one assay</a:t>
            </a:r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A0D4AF14-9207-5C3F-B95E-049705F81C39}"/>
              </a:ext>
            </a:extLst>
          </p:cNvPr>
          <p:cNvSpPr/>
          <p:nvPr/>
        </p:nvSpPr>
        <p:spPr>
          <a:xfrm flipV="1">
            <a:off x="1963955" y="3460849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3DF677-8AE5-1978-C3F5-A1221B5A4E43}"/>
              </a:ext>
            </a:extLst>
          </p:cNvPr>
          <p:cNvSpPr txBox="1"/>
          <p:nvPr/>
        </p:nvSpPr>
        <p:spPr>
          <a:xfrm>
            <a:off x="891372" y="3675328"/>
            <a:ext cx="23435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Avenir Next LT Pro" panose="020B0504020202020204" pitchFamily="34" charset="0"/>
              </a:rPr>
              <a:t>327 chemicals screened in multi-conc (mc) </a:t>
            </a:r>
          </a:p>
        </p:txBody>
      </p:sp>
      <p:sp>
        <p:nvSpPr>
          <p:cNvPr id="46" name="Arrow: Down 45">
            <a:extLst>
              <a:ext uri="{FF2B5EF4-FFF2-40B4-BE49-F238E27FC236}">
                <a16:creationId xmlns:a16="http://schemas.microsoft.com/office/drawing/2014/main" id="{87D014D5-3C9B-AA73-744A-0A1FF7E0B979}"/>
              </a:ext>
            </a:extLst>
          </p:cNvPr>
          <p:cNvSpPr/>
          <p:nvPr/>
        </p:nvSpPr>
        <p:spPr>
          <a:xfrm>
            <a:off x="1929440" y="4239977"/>
            <a:ext cx="267435" cy="411086"/>
          </a:xfrm>
          <a:prstGeom prst="down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0391B82-E113-6052-F878-87AC64265015}"/>
              </a:ext>
            </a:extLst>
          </p:cNvPr>
          <p:cNvSpPr txBox="1"/>
          <p:nvPr/>
        </p:nvSpPr>
        <p:spPr>
          <a:xfrm>
            <a:off x="8635233" y="1901626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venir Next LT Pro" panose="020B0504020202020204" pitchFamily="34" charset="0"/>
              </a:rPr>
              <a:t>Prioritization based on maternal-fetal exposure using HTTK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BBF8B0A-2E95-52A1-961C-83528AB8C482}"/>
              </a:ext>
            </a:extLst>
          </p:cNvPr>
          <p:cNvCxnSpPr>
            <a:cxnSpLocks/>
          </p:cNvCxnSpPr>
          <p:nvPr/>
        </p:nvCxnSpPr>
        <p:spPr>
          <a:xfrm>
            <a:off x="5870088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418017-20B6-193A-A4DE-4BDCD4EBDC26}"/>
              </a:ext>
            </a:extLst>
          </p:cNvPr>
          <p:cNvCxnSpPr>
            <a:cxnSpLocks/>
          </p:cNvCxnSpPr>
          <p:nvPr/>
        </p:nvCxnSpPr>
        <p:spPr>
          <a:xfrm>
            <a:off x="8463847" y="1605516"/>
            <a:ext cx="0" cy="5205484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250BF3FB-AF8B-26FD-9AC5-2F679DA732BA}"/>
              </a:ext>
            </a:extLst>
          </p:cNvPr>
          <p:cNvCxnSpPr>
            <a:cxnSpLocks/>
          </p:cNvCxnSpPr>
          <p:nvPr/>
        </p:nvCxnSpPr>
        <p:spPr>
          <a:xfrm>
            <a:off x="8378459" y="6162651"/>
            <a:ext cx="32748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Connector: Curved 92">
            <a:extLst>
              <a:ext uri="{FF2B5EF4-FFF2-40B4-BE49-F238E27FC236}">
                <a16:creationId xmlns:a16="http://schemas.microsoft.com/office/drawing/2014/main" id="{47336B65-2979-45AC-1A1E-60FABA0AE5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8126757" y="5907009"/>
            <a:ext cx="408230" cy="115003"/>
          </a:xfrm>
          <a:prstGeom prst="curvedConnector3">
            <a:avLst>
              <a:gd name="adj1" fmla="val 97998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7" name="Isosceles Triangle 76">
            <a:extLst>
              <a:ext uri="{FF2B5EF4-FFF2-40B4-BE49-F238E27FC236}">
                <a16:creationId xmlns:a16="http://schemas.microsoft.com/office/drawing/2014/main" id="{242C9CC5-770B-DEAA-D76C-9F1173E32D87}"/>
              </a:ext>
            </a:extLst>
          </p:cNvPr>
          <p:cNvSpPr/>
          <p:nvPr/>
        </p:nvSpPr>
        <p:spPr>
          <a:xfrm flipV="1">
            <a:off x="4502134" y="2496664"/>
            <a:ext cx="198404" cy="173049"/>
          </a:xfrm>
          <a:prstGeom prst="triangl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Avenir Next LT Pro" panose="020B0504020202020204" pitchFamily="34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B938B19-32C4-3727-C4F1-836C830105FC}"/>
              </a:ext>
            </a:extLst>
          </p:cNvPr>
          <p:cNvSpPr txBox="1"/>
          <p:nvPr/>
        </p:nvSpPr>
        <p:spPr>
          <a:xfrm>
            <a:off x="3429551" y="2762506"/>
            <a:ext cx="234357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venir Next LT Pro" panose="020B0504020202020204" pitchFamily="34" charset="0"/>
              </a:rPr>
              <a:t>Filter for sources of assay interference or pan-activity</a:t>
            </a:r>
          </a:p>
        </p:txBody>
      </p:sp>
    </p:spTree>
    <p:extLst>
      <p:ext uri="{BB962C8B-B14F-4D97-AF65-F5344CB8AC3E}">
        <p14:creationId xmlns:p14="http://schemas.microsoft.com/office/powerpoint/2010/main" val="31217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371</TotalTime>
  <Words>112</Words>
  <Application>Microsoft Office PowerPoint</Application>
  <PresentationFormat>Widescreen</PresentationFormat>
  <Paragraphs>20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Avenir Next LT Pro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Truong, Kimberly (she/her/hers)</dc:creator>
  <cp:lastModifiedBy>Truong, Kimberly</cp:lastModifiedBy>
  <cp:revision>4</cp:revision>
  <dcterms:created xsi:type="dcterms:W3CDTF">2024-04-16T15:23:09Z</dcterms:created>
  <dcterms:modified xsi:type="dcterms:W3CDTF">2025-04-03T22:04:15Z</dcterms:modified>
</cp:coreProperties>
</file>