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8CC1"/>
    <a:srgbClr val="6D9DCD"/>
    <a:srgbClr val="88AED8"/>
    <a:srgbClr val="A4C0E3"/>
    <a:srgbClr val="262673"/>
    <a:srgbClr val="7575D1"/>
    <a:srgbClr val="A3A3E0"/>
    <a:srgbClr val="D1D1F0"/>
    <a:srgbClr val="7030A0"/>
    <a:srgbClr val="222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ong, Kimberly" userId="925efed1-480b-4601-a542-5efebb98d46d" providerId="ADAL" clId="{2B89FEC1-C8C7-42CA-B874-CA36DB621456}"/>
    <pc:docChg chg="undo redo custSel modSld">
      <pc:chgData name="Truong, Kimberly" userId="925efed1-480b-4601-a542-5efebb98d46d" providerId="ADAL" clId="{2B89FEC1-C8C7-42CA-B874-CA36DB621456}" dt="2025-04-03T21:51:27.729" v="38" actId="2085"/>
      <pc:docMkLst>
        <pc:docMk/>
      </pc:docMkLst>
      <pc:sldChg chg="addSp delSp modSp mod">
        <pc:chgData name="Truong, Kimberly" userId="925efed1-480b-4601-a542-5efebb98d46d" providerId="ADAL" clId="{2B89FEC1-C8C7-42CA-B874-CA36DB621456}" dt="2025-04-03T21:51:27.729" v="38" actId="2085"/>
        <pc:sldMkLst>
          <pc:docMk/>
          <pc:sldMk cId="312177612" sldId="2969"/>
        </pc:sldMkLst>
        <pc:spChg chg="mod">
          <ac:chgData name="Truong, Kimberly" userId="925efed1-480b-4601-a542-5efebb98d46d" providerId="ADAL" clId="{2B89FEC1-C8C7-42CA-B874-CA36DB621456}" dt="2025-04-03T21:49:12.719" v="21" actId="12789"/>
          <ac:spMkLst>
            <pc:docMk/>
            <pc:sldMk cId="312177612" sldId="2969"/>
            <ac:spMk id="15" creationId="{FAB754F1-85E0-422D-8F7A-B819C89A0AA5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16" creationId="{BDA81BDF-EE59-006A-8397-64567E2F85D6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17" creationId="{CBE42328-7860-4F4C-85FA-58954216A450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18" creationId="{BF75DEBA-C8B6-085A-65E7-BBBA27E3E5D7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19" creationId="{ECF95AB4-396B-1A30-C8A0-A2E3F380559B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21" creationId="{91236F16-7D03-A616-78BE-020B10C1213B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22" creationId="{1CF16134-8035-21CE-3EE6-ACE8B274FA65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23" creationId="{526748DC-44E9-4212-50E3-026AD11D55E9}"/>
          </ac:spMkLst>
        </pc:spChg>
        <pc:spChg chg="mod">
          <ac:chgData name="Truong, Kimberly" userId="925efed1-480b-4601-a542-5efebb98d46d" providerId="ADAL" clId="{2B89FEC1-C8C7-42CA-B874-CA36DB621456}" dt="2025-04-03T21:49:12.719" v="21" actId="12789"/>
          <ac:spMkLst>
            <pc:docMk/>
            <pc:sldMk cId="312177612" sldId="2969"/>
            <ac:spMk id="29" creationId="{73DFA4F3-2CA7-9EEA-6D4E-9FC905F9B3C9}"/>
          </ac:spMkLst>
        </pc:spChg>
        <pc:spChg chg="mod">
          <ac:chgData name="Truong, Kimberly" userId="925efed1-480b-4601-a542-5efebb98d46d" providerId="ADAL" clId="{2B89FEC1-C8C7-42CA-B874-CA36DB621456}" dt="2025-04-03T21:49:51.120" v="28" actId="12789"/>
          <ac:spMkLst>
            <pc:docMk/>
            <pc:sldMk cId="312177612" sldId="2969"/>
            <ac:spMk id="30" creationId="{FD89976F-3EAE-7A09-F64A-F156F72DA967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31" creationId="{C3D87C59-F48A-EC45-DF9C-F824CAC6FF58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33" creationId="{A0D4AF14-9207-5C3F-B95E-049705F81C39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39" creationId="{E23DF677-8AE5-1978-C3F5-A1221B5A4E43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40" creationId="{F14D9770-A517-F5A6-9A10-6319D6A5B643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46" creationId="{87D014D5-3C9B-AA73-744A-0A1FF7E0B979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49" creationId="{A0391B82-E113-6052-F878-87AC64265015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56" creationId="{DE392B63-A87D-C137-5D27-F324F8012606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57" creationId="{5C52125C-8ED8-7A5A-7DFD-C7FCDEED2B89}"/>
          </ac:spMkLst>
        </pc:spChg>
        <pc:spChg chg="mod">
          <ac:chgData name="Truong, Kimberly" userId="925efed1-480b-4601-a542-5efebb98d46d" providerId="ADAL" clId="{2B89FEC1-C8C7-42CA-B874-CA36DB621456}" dt="2025-04-03T21:49:51.120" v="28" actId="12789"/>
          <ac:spMkLst>
            <pc:docMk/>
            <pc:sldMk cId="312177612" sldId="2969"/>
            <ac:spMk id="77" creationId="{242C9CC5-770B-DEAA-D76C-9F1173E32D87}"/>
          </ac:spMkLst>
        </pc:spChg>
        <pc:spChg chg="mod">
          <ac:chgData name="Truong, Kimberly" userId="925efed1-480b-4601-a542-5efebb98d46d" providerId="ADAL" clId="{2B89FEC1-C8C7-42CA-B874-CA36DB621456}" dt="2025-04-03T21:48:21.082" v="18" actId="2711"/>
          <ac:spMkLst>
            <pc:docMk/>
            <pc:sldMk cId="312177612" sldId="2969"/>
            <ac:spMk id="78" creationId="{1B938B19-32C4-3727-C4F1-836C830105FC}"/>
          </ac:spMkLst>
        </pc:spChg>
        <pc:graphicFrameChg chg="add del mod">
          <ac:chgData name="Truong, Kimberly" userId="925efed1-480b-4601-a542-5efebb98d46d" providerId="ADAL" clId="{2B89FEC1-C8C7-42CA-B874-CA36DB621456}" dt="2025-04-03T18:38:18.585" v="14" actId="478"/>
          <ac:graphicFrameMkLst>
            <pc:docMk/>
            <pc:sldMk cId="312177612" sldId="2969"/>
            <ac:graphicFrameMk id="2" creationId="{E754F15A-A64A-5277-14C8-1F281AB7EDED}"/>
          </ac:graphicFrameMkLst>
        </pc:graphicFrameChg>
        <pc:graphicFrameChg chg="mod">
          <ac:chgData name="Truong, Kimberly" userId="925efed1-480b-4601-a542-5efebb98d46d" providerId="ADAL" clId="{2B89FEC1-C8C7-42CA-B874-CA36DB621456}" dt="2025-04-03T21:51:27.729" v="38" actId="2085"/>
          <ac:graphicFrameMkLst>
            <pc:docMk/>
            <pc:sldMk cId="312177612" sldId="2969"/>
            <ac:graphicFrameMk id="24" creationId="{EFF69940-0D6D-5518-442B-DBCC36EF3D3C}"/>
          </ac:graphicFrameMkLst>
        </pc:graphicFrameChg>
        <pc:cxnChg chg="mod">
          <ac:chgData name="Truong, Kimberly" userId="925efed1-480b-4601-a542-5efebb98d46d" providerId="ADAL" clId="{2B89FEC1-C8C7-42CA-B874-CA36DB621456}" dt="2025-04-03T21:50:00.887" v="32" actId="1036"/>
          <ac:cxnSpMkLst>
            <pc:docMk/>
            <pc:sldMk cId="312177612" sldId="2969"/>
            <ac:cxnSpMk id="89" creationId="{250BF3FB-AF8B-26FD-9AC5-2F679DA732BA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B798DE-2A66-493C-A8E2-58BA05957B3D}" type="doc">
      <dgm:prSet loTypeId="urn:microsoft.com/office/officeart/2005/8/layout/chevron1" loCatId="process" qsTypeId="urn:microsoft.com/office/officeart/2005/8/quickstyle/simple1" qsCatId="simple" csTypeId="urn:microsoft.com/office/officeart/2005/8/colors/accent5_3" csCatId="accent5" phldr="1"/>
      <dgm:spPr/>
    </dgm:pt>
    <dgm:pt modelId="{DA375C72-9E17-40B9-B1F9-4AF75F123C9B}">
      <dgm:prSet phldrT="[Text]" custT="1"/>
      <dgm:spPr>
        <a:solidFill>
          <a:srgbClr val="A4C0E3"/>
        </a:solidFill>
        <a:ln>
          <a:noFill/>
        </a:ln>
      </dgm:spPr>
      <dgm:t>
        <a:bodyPr/>
        <a:lstStyle/>
        <a:p>
          <a:r>
            <a:rPr lang="en-US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 1. Assay Data Compilation</a:t>
          </a:r>
        </a:p>
      </dgm:t>
    </dgm:pt>
    <dgm:pt modelId="{A81A6F52-4DD3-48DF-A896-E3B41A5BC5E0}" type="parTrans" cxnId="{7E080FCF-9B44-48E4-B3A5-DC27DCC756F1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FF82F44A-A601-4130-BA59-31C8895D108F}" type="sibTrans" cxnId="{7E080FCF-9B44-48E4-B3A5-DC27DCC756F1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4EAFDE17-8100-4432-86D3-36F2806EB45B}">
      <dgm:prSet phldrT="[Text]" custT="1"/>
      <dgm:spPr>
        <a:solidFill>
          <a:srgbClr val="88AED8"/>
        </a:solidFill>
        <a:ln>
          <a:noFill/>
        </a:ln>
      </dgm:spPr>
      <dgm:t>
        <a:bodyPr/>
        <a:lstStyle/>
        <a:p>
          <a:r>
            <a:rPr lang="en-US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2. Assessment for Selectivity + Assay Interference</a:t>
          </a:r>
        </a:p>
      </dgm:t>
    </dgm:pt>
    <dgm:pt modelId="{735387B8-BD68-4EAD-B886-5840E98A3070}" type="parTrans" cxnId="{264DD9FE-83AE-48DD-AD38-D6AC53B2AF7A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7C2FCBCF-CDE6-4D80-BB6B-F758A9E3A1D2}" type="sibTrans" cxnId="{264DD9FE-83AE-48DD-AD38-D6AC53B2AF7A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4084CD10-640C-48D4-938D-E9A342D6DA05}">
      <dgm:prSet phldrT="[Text]" custT="1"/>
      <dgm:spPr>
        <a:solidFill>
          <a:srgbClr val="6D9DCD"/>
        </a:solidFill>
        <a:ln>
          <a:noFill/>
        </a:ln>
      </dgm:spPr>
      <dgm:t>
        <a:bodyPr/>
        <a:lstStyle/>
        <a:p>
          <a:r>
            <a:rPr lang="en-US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3. Refinement</a:t>
          </a:r>
        </a:p>
      </dgm:t>
    </dgm:pt>
    <dgm:pt modelId="{5F23E477-E463-41A1-AB0E-C95CE2F42025}" type="parTrans" cxnId="{204E4ABD-D129-4BEE-9FF5-AE2429763208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51155D2A-F1DF-4404-989B-2165D6A74B03}" type="sibTrans" cxnId="{204E4ABD-D129-4BEE-9FF5-AE2429763208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7895EE14-1759-47C8-BE4B-302E464FCCBE}">
      <dgm:prSet custT="1"/>
      <dgm:spPr>
        <a:solidFill>
          <a:srgbClr val="528CC1"/>
        </a:solidFill>
        <a:ln>
          <a:noFill/>
        </a:ln>
      </dgm:spPr>
      <dgm:t>
        <a:bodyPr/>
        <a:lstStyle/>
        <a:p>
          <a:r>
            <a:rPr lang="en-US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4. Targeted bioactivity: exposure ratios</a:t>
          </a:r>
        </a:p>
      </dgm:t>
    </dgm:pt>
    <dgm:pt modelId="{B2C23EC7-D74F-4AF7-B64C-AD0A831505AF}" type="parTrans" cxnId="{95837261-1661-4D41-91B2-AF7813E23E56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F9BA7F7C-6E60-4674-8ACA-BB1185E5F3C9}" type="sibTrans" cxnId="{95837261-1661-4D41-91B2-AF7813E23E56}">
      <dgm:prSet/>
      <dgm:spPr/>
      <dgm:t>
        <a:bodyPr/>
        <a:lstStyle/>
        <a:p>
          <a:endParaRPr lang="en-US" sz="2000" b="0">
            <a:latin typeface="Avenir Next LT Pro" panose="020B0504020202020204" pitchFamily="34" charset="0"/>
            <a:cs typeface="Arial" panose="020B0604020202020204" pitchFamily="34" charset="0"/>
          </a:endParaRPr>
        </a:p>
      </dgm:t>
    </dgm:pt>
    <dgm:pt modelId="{A2094B74-9CA1-4399-AC06-25CB143D95BB}" type="pres">
      <dgm:prSet presAssocID="{2DB798DE-2A66-493C-A8E2-58BA05957B3D}" presName="Name0" presStyleCnt="0">
        <dgm:presLayoutVars>
          <dgm:dir/>
          <dgm:animLvl val="lvl"/>
          <dgm:resizeHandles val="exact"/>
        </dgm:presLayoutVars>
      </dgm:prSet>
      <dgm:spPr/>
    </dgm:pt>
    <dgm:pt modelId="{C817BD9E-3E33-484D-A8ED-C7E4053AA188}" type="pres">
      <dgm:prSet presAssocID="{DA375C72-9E17-40B9-B1F9-4AF75F123C9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20E5AC-4AED-4106-8B7D-ADA01B8D0B32}" type="pres">
      <dgm:prSet presAssocID="{FF82F44A-A601-4130-BA59-31C8895D108F}" presName="parTxOnlySpace" presStyleCnt="0"/>
      <dgm:spPr/>
    </dgm:pt>
    <dgm:pt modelId="{1FC7B2B6-C892-4A02-A815-17E64CDB0E9F}" type="pres">
      <dgm:prSet presAssocID="{4EAFDE17-8100-4432-86D3-36F2806EB45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50CD47-715E-4AE7-B31A-C55D78FDCC09}" type="pres">
      <dgm:prSet presAssocID="{7C2FCBCF-CDE6-4D80-BB6B-F758A9E3A1D2}" presName="parTxOnlySpace" presStyleCnt="0"/>
      <dgm:spPr/>
    </dgm:pt>
    <dgm:pt modelId="{ADB09BD5-FDE5-4565-B805-F8514E9B41D8}" type="pres">
      <dgm:prSet presAssocID="{4084CD10-640C-48D4-938D-E9A342D6DA05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51BD30-DAF6-4A83-85EE-51740FB8A229}" type="pres">
      <dgm:prSet presAssocID="{51155D2A-F1DF-4404-989B-2165D6A74B03}" presName="parTxOnlySpace" presStyleCnt="0"/>
      <dgm:spPr/>
    </dgm:pt>
    <dgm:pt modelId="{AC03897F-CF99-4275-9B69-5CD300EEF10F}" type="pres">
      <dgm:prSet presAssocID="{7895EE14-1759-47C8-BE4B-302E464FCCBE}" presName="parTxOnly" presStyleLbl="node1" presStyleIdx="3" presStyleCnt="4" custLinFactNeighborX="1719" custLinFactNeighborY="-388">
        <dgm:presLayoutVars>
          <dgm:chMax val="0"/>
          <dgm:chPref val="0"/>
          <dgm:bulletEnabled val="1"/>
        </dgm:presLayoutVars>
      </dgm:prSet>
      <dgm:spPr/>
    </dgm:pt>
  </dgm:ptLst>
  <dgm:cxnLst>
    <dgm:cxn modelId="{53A0BA2C-DC21-4F78-9664-54E61A467744}" type="presOf" srcId="{4EAFDE17-8100-4432-86D3-36F2806EB45B}" destId="{1FC7B2B6-C892-4A02-A815-17E64CDB0E9F}" srcOrd="0" destOrd="0" presId="urn:microsoft.com/office/officeart/2005/8/layout/chevron1"/>
    <dgm:cxn modelId="{95837261-1661-4D41-91B2-AF7813E23E56}" srcId="{2DB798DE-2A66-493C-A8E2-58BA05957B3D}" destId="{7895EE14-1759-47C8-BE4B-302E464FCCBE}" srcOrd="3" destOrd="0" parTransId="{B2C23EC7-D74F-4AF7-B64C-AD0A831505AF}" sibTransId="{F9BA7F7C-6E60-4674-8ACA-BB1185E5F3C9}"/>
    <dgm:cxn modelId="{BFD54B66-4238-4705-AAA1-DE978AF9B0A8}" type="presOf" srcId="{4084CD10-640C-48D4-938D-E9A342D6DA05}" destId="{ADB09BD5-FDE5-4565-B805-F8514E9B41D8}" srcOrd="0" destOrd="0" presId="urn:microsoft.com/office/officeart/2005/8/layout/chevron1"/>
    <dgm:cxn modelId="{3AF8BF8C-D28F-4460-A172-F50A7B40FAD3}" type="presOf" srcId="{DA375C72-9E17-40B9-B1F9-4AF75F123C9B}" destId="{C817BD9E-3E33-484D-A8ED-C7E4053AA188}" srcOrd="0" destOrd="0" presId="urn:microsoft.com/office/officeart/2005/8/layout/chevron1"/>
    <dgm:cxn modelId="{204E4ABD-D129-4BEE-9FF5-AE2429763208}" srcId="{2DB798DE-2A66-493C-A8E2-58BA05957B3D}" destId="{4084CD10-640C-48D4-938D-E9A342D6DA05}" srcOrd="2" destOrd="0" parTransId="{5F23E477-E463-41A1-AB0E-C95CE2F42025}" sibTransId="{51155D2A-F1DF-4404-989B-2165D6A74B03}"/>
    <dgm:cxn modelId="{D93575C3-48B0-41ED-990F-73FDFEEB9236}" type="presOf" srcId="{2DB798DE-2A66-493C-A8E2-58BA05957B3D}" destId="{A2094B74-9CA1-4399-AC06-25CB143D95BB}" srcOrd="0" destOrd="0" presId="urn:microsoft.com/office/officeart/2005/8/layout/chevron1"/>
    <dgm:cxn modelId="{7E080FCF-9B44-48E4-B3A5-DC27DCC756F1}" srcId="{2DB798DE-2A66-493C-A8E2-58BA05957B3D}" destId="{DA375C72-9E17-40B9-B1F9-4AF75F123C9B}" srcOrd="0" destOrd="0" parTransId="{A81A6F52-4DD3-48DF-A896-E3B41A5BC5E0}" sibTransId="{FF82F44A-A601-4130-BA59-31C8895D108F}"/>
    <dgm:cxn modelId="{264DD9FE-83AE-48DD-AD38-D6AC53B2AF7A}" srcId="{2DB798DE-2A66-493C-A8E2-58BA05957B3D}" destId="{4EAFDE17-8100-4432-86D3-36F2806EB45B}" srcOrd="1" destOrd="0" parTransId="{735387B8-BD68-4EAD-B886-5840E98A3070}" sibTransId="{7C2FCBCF-CDE6-4D80-BB6B-F758A9E3A1D2}"/>
    <dgm:cxn modelId="{EE73A5FF-D8FE-4178-9254-95AA65CA8793}" type="presOf" srcId="{7895EE14-1759-47C8-BE4B-302E464FCCBE}" destId="{AC03897F-CF99-4275-9B69-5CD300EEF10F}" srcOrd="0" destOrd="0" presId="urn:microsoft.com/office/officeart/2005/8/layout/chevron1"/>
    <dgm:cxn modelId="{2BB0AE78-1322-4C00-AE57-A160F4EDDDE9}" type="presParOf" srcId="{A2094B74-9CA1-4399-AC06-25CB143D95BB}" destId="{C817BD9E-3E33-484D-A8ED-C7E4053AA188}" srcOrd="0" destOrd="0" presId="urn:microsoft.com/office/officeart/2005/8/layout/chevron1"/>
    <dgm:cxn modelId="{98845813-AF5E-4497-BE9B-5229862E2233}" type="presParOf" srcId="{A2094B74-9CA1-4399-AC06-25CB143D95BB}" destId="{DA20E5AC-4AED-4106-8B7D-ADA01B8D0B32}" srcOrd="1" destOrd="0" presId="urn:microsoft.com/office/officeart/2005/8/layout/chevron1"/>
    <dgm:cxn modelId="{9478C7B2-FA3A-4260-B807-0C3017FFF434}" type="presParOf" srcId="{A2094B74-9CA1-4399-AC06-25CB143D95BB}" destId="{1FC7B2B6-C892-4A02-A815-17E64CDB0E9F}" srcOrd="2" destOrd="0" presId="urn:microsoft.com/office/officeart/2005/8/layout/chevron1"/>
    <dgm:cxn modelId="{A7F305B6-FD27-46D7-B5C2-188BE370EEBE}" type="presParOf" srcId="{A2094B74-9CA1-4399-AC06-25CB143D95BB}" destId="{D750CD47-715E-4AE7-B31A-C55D78FDCC09}" srcOrd="3" destOrd="0" presId="urn:microsoft.com/office/officeart/2005/8/layout/chevron1"/>
    <dgm:cxn modelId="{D18519AB-095D-4FC0-A22A-1402F0A79E9B}" type="presParOf" srcId="{A2094B74-9CA1-4399-AC06-25CB143D95BB}" destId="{ADB09BD5-FDE5-4565-B805-F8514E9B41D8}" srcOrd="4" destOrd="0" presId="urn:microsoft.com/office/officeart/2005/8/layout/chevron1"/>
    <dgm:cxn modelId="{1F59B862-1E85-476B-9FA7-5A14FC7CEB4B}" type="presParOf" srcId="{A2094B74-9CA1-4399-AC06-25CB143D95BB}" destId="{2651BD30-DAF6-4A83-85EE-51740FB8A229}" srcOrd="5" destOrd="0" presId="urn:microsoft.com/office/officeart/2005/8/layout/chevron1"/>
    <dgm:cxn modelId="{5485FF41-DE68-4257-BB8F-F211C2DF0EBB}" type="presParOf" srcId="{A2094B74-9CA1-4399-AC06-25CB143D95BB}" destId="{AC03897F-CF99-4275-9B69-5CD300EEF10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7BD9E-3E33-484D-A8ED-C7E4053AA188}">
      <dsp:nvSpPr>
        <dsp:cNvPr id="0" name=""/>
        <dsp:cNvSpPr/>
      </dsp:nvSpPr>
      <dsp:spPr>
        <a:xfrm>
          <a:off x="4948" y="1599598"/>
          <a:ext cx="2880350" cy="1152140"/>
        </a:xfrm>
        <a:prstGeom prst="chevron">
          <a:avLst/>
        </a:prstGeom>
        <a:solidFill>
          <a:srgbClr val="A4C0E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 1. Assay Data Compilation</a:t>
          </a:r>
        </a:p>
      </dsp:txBody>
      <dsp:txXfrm>
        <a:off x="581018" y="1599598"/>
        <a:ext cx="1728210" cy="1152140"/>
      </dsp:txXfrm>
    </dsp:sp>
    <dsp:sp modelId="{1FC7B2B6-C892-4A02-A815-17E64CDB0E9F}">
      <dsp:nvSpPr>
        <dsp:cNvPr id="0" name=""/>
        <dsp:cNvSpPr/>
      </dsp:nvSpPr>
      <dsp:spPr>
        <a:xfrm>
          <a:off x="2597263" y="1599598"/>
          <a:ext cx="2880350" cy="1152140"/>
        </a:xfrm>
        <a:prstGeom prst="chevron">
          <a:avLst/>
        </a:prstGeom>
        <a:solidFill>
          <a:srgbClr val="88AED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2. Assessment for Selectivity + Assay Interference</a:t>
          </a:r>
        </a:p>
      </dsp:txBody>
      <dsp:txXfrm>
        <a:off x="3173333" y="1599598"/>
        <a:ext cx="1728210" cy="1152140"/>
      </dsp:txXfrm>
    </dsp:sp>
    <dsp:sp modelId="{ADB09BD5-FDE5-4565-B805-F8514E9B41D8}">
      <dsp:nvSpPr>
        <dsp:cNvPr id="0" name=""/>
        <dsp:cNvSpPr/>
      </dsp:nvSpPr>
      <dsp:spPr>
        <a:xfrm>
          <a:off x="5189578" y="1599598"/>
          <a:ext cx="2880350" cy="1152140"/>
        </a:xfrm>
        <a:prstGeom prst="chevron">
          <a:avLst/>
        </a:prstGeom>
        <a:solidFill>
          <a:srgbClr val="6D9DC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3. Refinement</a:t>
          </a:r>
        </a:p>
      </dsp:txBody>
      <dsp:txXfrm>
        <a:off x="5765648" y="1599598"/>
        <a:ext cx="1728210" cy="1152140"/>
      </dsp:txXfrm>
    </dsp:sp>
    <dsp:sp modelId="{AC03897F-CF99-4275-9B69-5CD300EEF10F}">
      <dsp:nvSpPr>
        <dsp:cNvPr id="0" name=""/>
        <dsp:cNvSpPr/>
      </dsp:nvSpPr>
      <dsp:spPr>
        <a:xfrm>
          <a:off x="7786842" y="1595128"/>
          <a:ext cx="2880350" cy="1152140"/>
        </a:xfrm>
        <a:prstGeom prst="chevron">
          <a:avLst/>
        </a:prstGeom>
        <a:solidFill>
          <a:srgbClr val="528CC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 panose="020B0504020202020204" pitchFamily="34" charset="0"/>
              <a:cs typeface="Arial" panose="020B0604020202020204" pitchFamily="34" charset="0"/>
            </a:rPr>
            <a:t>4. Targeted bioactivity: exposure ratios</a:t>
          </a:r>
        </a:p>
      </dsp:txBody>
      <dsp:txXfrm>
        <a:off x="8362912" y="1595128"/>
        <a:ext cx="1728210" cy="1152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D3CB6-AF3F-41A8-820D-FF52D5A0F9B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B0ACF-6B84-495D-8BF7-818A49761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74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FE8F6-8F28-4C32-8423-0DBD2EE86A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3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A335-68E5-42B9-36A3-F7E56AE6C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57879-34C8-2ED1-617E-640B08705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97F00-2CF5-973B-0F5F-07DC9119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11F37-F37F-F56C-9BFE-707F266A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1D51-B73A-9F72-2D42-E3C790A1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2E39-2DBE-2070-E06B-7DED17D1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7C7E-8078-8436-F04C-67BF21AD6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BEF89-84AA-BCD1-F6BE-10C0598D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ED00C-1DD6-0C72-DA39-1FFB6041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9CEC2-41BC-4688-545B-BB65C935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E3BF-DDF0-8D7C-895C-9B850679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B1B53-CDB1-950D-6C93-E9193A7A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0BC2-F884-C849-D2DD-8476F3D8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2D90-E440-F29C-C221-87D08CA0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FEB6-0462-EBC8-BC6E-30C0C9DA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3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2CC5-D8C2-23BA-B504-4422E902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F3A0-32F0-623B-1C5D-EB30978E1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3BD3D-8AE1-6961-932A-006261C86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65E41-818B-080B-9155-05E52622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BB93B-65F2-8D3D-599A-ECD88E62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917B4-1F7F-6CF4-6CAD-D07C2660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453C-114D-775C-BDFD-93EDEFE7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35616-292D-7662-1E6F-8D70088EB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4A4B-AB3A-B757-0BA2-FE47490AF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D2B49-8FF3-1359-313A-72A0CCBB2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7C3D3-06FB-2C40-319A-DC097A0AF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3BA7E-2966-A14A-30ED-88231034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551E5-F81D-20C5-1DB7-325D6CCD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56CA9-FAA7-9E75-340B-61BC06BC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2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5B48-4564-3E70-CF5E-8359BC67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81B84-C8B0-3051-89A7-B5A39D27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082D0-72BE-486C-3B41-7D4C3E78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00B71-05AB-8FCB-99E1-4705D4EA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8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44B27-C1C6-D47C-E3A4-BEC19423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C3CE6-E09E-F0FF-99EB-127BDCBE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DFAF1-1D17-5BAD-40B8-870C5076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1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9C40-6ADE-996A-8DD5-0D137428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CC562-B036-1C4F-FA62-FC6AD476B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FC02B-A3EA-233D-8003-772739743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E1FE5-B714-995D-A183-B228314E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FB8B-1BA9-2A2C-6687-60454198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213E7-F28F-FE23-1CBC-9E0D4D62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9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96A4-3922-66D2-39AB-038FB877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31098-7006-819B-9148-2BB55093A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90F90-C228-55EC-436B-CD72F2A5F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4EED7-6C5E-A959-3775-1361CD94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E5364-2F19-A234-C664-FBD5055F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A3314-F938-9369-1F0B-A372DC22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8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8754-1E3B-2503-3FC3-9D9328B3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B484F-7DC6-E4D9-7956-7E979AB9C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C76B-11E4-B203-F2E5-01504AE7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4900C-F4D4-4CE0-5C5C-DAD37CA1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DD3FC-909E-0ECF-80BB-610EBB4A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7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F93A4-5C72-14FB-78C2-83086FBC6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296D4-7A9E-9975-FF2A-C355FCAF7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4141-23B2-F400-6AD3-35E35907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6BB8C-48CF-FB91-D198-7016087E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06F86-D987-9204-61CA-A630E781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0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C08B3-E356-D353-92E4-4401330C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92C65-9DA0-8970-3952-B6DF1B72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F0C25-307F-BEDB-E976-9A56AFEA5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5729E-DEA5-4458-8279-F005B714933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C61FB-E363-B4B8-03B6-8EB12DE68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2E0A1-795C-68D4-4C87-50C3A4BFF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B9177-35A1-43A1-8C5D-2D820675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8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C2D6F6-3A28-4662-00C5-DC1BAB7FDF85}"/>
              </a:ext>
            </a:extLst>
          </p:cNvPr>
          <p:cNvCxnSpPr>
            <a:cxnSpLocks/>
          </p:cNvCxnSpPr>
          <p:nvPr/>
        </p:nvCxnSpPr>
        <p:spPr>
          <a:xfrm>
            <a:off x="3304283" y="1605516"/>
            <a:ext cx="0" cy="520548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3">
            <a:extLst>
              <a:ext uri="{FF2B5EF4-FFF2-40B4-BE49-F238E27FC236}">
                <a16:creationId xmlns:a16="http://schemas.microsoft.com/office/drawing/2014/main" id="{EFF69940-0D6D-5518-442B-DBCC36EF3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09854"/>
              </p:ext>
            </p:extLst>
          </p:nvPr>
        </p:nvGraphicFramePr>
        <p:xfrm>
          <a:off x="811282" y="-1149494"/>
          <a:ext cx="1066719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14D9770-A517-F5A6-9A10-6319D6A5B643}"/>
              </a:ext>
            </a:extLst>
          </p:cNvPr>
          <p:cNvSpPr txBox="1"/>
          <p:nvPr/>
        </p:nvSpPr>
        <p:spPr>
          <a:xfrm>
            <a:off x="8705946" y="5901041"/>
            <a:ext cx="2967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venir Next LT Pro" panose="020B0504020202020204" pitchFamily="34" charset="0"/>
                <a:cs typeface="Calibri" panose="020F0502020204030204" pitchFamily="34" charset="0"/>
              </a:rPr>
              <a:t>17 chemicals with no </a:t>
            </a:r>
            <a:r>
              <a:rPr lang="en-US" sz="1400" i="1" dirty="0">
                <a:latin typeface="Avenir Next LT Pro" panose="020B0504020202020204" pitchFamily="34" charset="0"/>
                <a:cs typeface="Calibri" panose="020F0502020204030204" pitchFamily="34" charset="0"/>
              </a:rPr>
              <a:t>in vitro </a:t>
            </a:r>
            <a:r>
              <a:rPr lang="en-US" sz="1400" dirty="0">
                <a:latin typeface="Avenir Next LT Pro" panose="020B0504020202020204" pitchFamily="34" charset="0"/>
                <a:cs typeface="Calibri" panose="020F0502020204030204" pitchFamily="34" charset="0"/>
              </a:rPr>
              <a:t>toxicokinetic parameters for </a:t>
            </a:r>
            <a:r>
              <a:rPr lang="en-US" sz="1400" i="1" dirty="0" err="1">
                <a:latin typeface="Avenir Next LT Pro" panose="020B0504020202020204" pitchFamily="34" charset="0"/>
                <a:cs typeface="Calibri" panose="020F0502020204030204" pitchFamily="34" charset="0"/>
              </a:rPr>
              <a:t>httk</a:t>
            </a:r>
            <a:endParaRPr lang="en-US" sz="1400" i="1" dirty="0">
              <a:latin typeface="Avenir Next LT Pro" panose="020B05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Flowchart: Manual Operation 15">
            <a:extLst>
              <a:ext uri="{FF2B5EF4-FFF2-40B4-BE49-F238E27FC236}">
                <a16:creationId xmlns:a16="http://schemas.microsoft.com/office/drawing/2014/main" id="{BDA81BDF-EE59-006A-8397-64567E2F85D6}"/>
              </a:ext>
            </a:extLst>
          </p:cNvPr>
          <p:cNvSpPr/>
          <p:nvPr/>
        </p:nvSpPr>
        <p:spPr>
          <a:xfrm rot="16200000">
            <a:off x="3967622" y="4222032"/>
            <a:ext cx="1264123" cy="2362264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17" name="Flowchart: Manual Operation 16">
            <a:extLst>
              <a:ext uri="{FF2B5EF4-FFF2-40B4-BE49-F238E27FC236}">
                <a16:creationId xmlns:a16="http://schemas.microsoft.com/office/drawing/2014/main" id="{CBE42328-7860-4F4C-85FA-58954216A450}"/>
              </a:ext>
            </a:extLst>
          </p:cNvPr>
          <p:cNvSpPr/>
          <p:nvPr/>
        </p:nvSpPr>
        <p:spPr>
          <a:xfrm rot="16200000">
            <a:off x="941940" y="4215970"/>
            <a:ext cx="2161770" cy="2359955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18" name="Flowchart: Manual Operation 17">
            <a:extLst>
              <a:ext uri="{FF2B5EF4-FFF2-40B4-BE49-F238E27FC236}">
                <a16:creationId xmlns:a16="http://schemas.microsoft.com/office/drawing/2014/main" id="{BF75DEBA-C8B6-085A-65E7-BBBA27E3E5D7}"/>
              </a:ext>
            </a:extLst>
          </p:cNvPr>
          <p:cNvSpPr/>
          <p:nvPr/>
        </p:nvSpPr>
        <p:spPr>
          <a:xfrm rot="16200000">
            <a:off x="6801008" y="4182942"/>
            <a:ext cx="730679" cy="2424224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F95AB4-396B-1A30-C8A0-A2E3F380559B}"/>
              </a:ext>
            </a:extLst>
          </p:cNvPr>
          <p:cNvSpPr txBox="1"/>
          <p:nvPr/>
        </p:nvSpPr>
        <p:spPr>
          <a:xfrm>
            <a:off x="1350537" y="5103560"/>
            <a:ext cx="134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285 Positive Chemicals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16134-8035-21CE-3EE6-ACE8B274FA65}"/>
              </a:ext>
            </a:extLst>
          </p:cNvPr>
          <p:cNvSpPr txBox="1"/>
          <p:nvPr/>
        </p:nvSpPr>
        <p:spPr>
          <a:xfrm>
            <a:off x="3722671" y="5218498"/>
            <a:ext cx="175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 </a:t>
            </a:r>
            <a:r>
              <a:rPr lang="en-US" sz="1600" dirty="0">
                <a:latin typeface="Avenir Next LT Pro" panose="020B0504020202020204" pitchFamily="34" charset="0"/>
              </a:rPr>
              <a:t>135 Chemicals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6748DC-44E9-4212-50E3-026AD11D55E9}"/>
              </a:ext>
            </a:extLst>
          </p:cNvPr>
          <p:cNvSpPr txBox="1"/>
          <p:nvPr/>
        </p:nvSpPr>
        <p:spPr>
          <a:xfrm>
            <a:off x="6369051" y="5225777"/>
            <a:ext cx="1594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120 Chemicals</a:t>
            </a:r>
          </a:p>
        </p:txBody>
      </p:sp>
      <p:sp>
        <p:nvSpPr>
          <p:cNvPr id="56" name="Flowchart: Manual Operation 55">
            <a:extLst>
              <a:ext uri="{FF2B5EF4-FFF2-40B4-BE49-F238E27FC236}">
                <a16:creationId xmlns:a16="http://schemas.microsoft.com/office/drawing/2014/main" id="{DE392B63-A87D-C137-5D27-F324F8012606}"/>
              </a:ext>
            </a:extLst>
          </p:cNvPr>
          <p:cNvSpPr/>
          <p:nvPr/>
        </p:nvSpPr>
        <p:spPr>
          <a:xfrm rot="16200000">
            <a:off x="9538922" y="4174623"/>
            <a:ext cx="438912" cy="2440861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2125C-8ED8-7A5A-7DFD-C7FCDEED2B89}"/>
              </a:ext>
            </a:extLst>
          </p:cNvPr>
          <p:cNvSpPr txBox="1"/>
          <p:nvPr/>
        </p:nvSpPr>
        <p:spPr>
          <a:xfrm>
            <a:off x="8902345" y="5225776"/>
            <a:ext cx="1712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103 Chemicals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754F1-85E0-422D-8F7A-B819C89A0AA5}"/>
              </a:ext>
            </a:extLst>
          </p:cNvPr>
          <p:cNvSpPr txBox="1"/>
          <p:nvPr/>
        </p:nvSpPr>
        <p:spPr>
          <a:xfrm>
            <a:off x="3415325" y="1901626"/>
            <a:ext cx="2343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Verify “selectivity” even for cell-free assays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36F16-7D03-A616-78BE-020B10C1213B}"/>
              </a:ext>
            </a:extLst>
          </p:cNvPr>
          <p:cNvSpPr txBox="1"/>
          <p:nvPr/>
        </p:nvSpPr>
        <p:spPr>
          <a:xfrm>
            <a:off x="6037080" y="1930928"/>
            <a:ext cx="2236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11">
              <a:defRPr/>
            </a:pPr>
            <a:r>
              <a:rPr lang="en-US" sz="1400" kern="0" dirty="0">
                <a:solidFill>
                  <a:prstClr val="black"/>
                </a:solidFill>
                <a:latin typeface="Avenir Next LT Pro" panose="020B0504020202020204" pitchFamily="34" charset="0"/>
                <a:cs typeface="Calibri" panose="020F0502020204030204" pitchFamily="34" charset="0"/>
              </a:rPr>
              <a:t>49 DIO1 inhibitors, </a:t>
            </a:r>
          </a:p>
          <a:p>
            <a:pPr algn="ctr" defTabSz="914411">
              <a:defRPr/>
            </a:pPr>
            <a:r>
              <a:rPr lang="en-US" sz="1400" kern="0" dirty="0">
                <a:solidFill>
                  <a:prstClr val="black"/>
                </a:solidFill>
                <a:latin typeface="Avenir Next LT Pro" panose="020B0504020202020204" pitchFamily="34" charset="0"/>
                <a:cs typeface="Calibri" panose="020F0502020204030204" pitchFamily="34" charset="0"/>
              </a:rPr>
              <a:t>55 DIO2 inhibitors, </a:t>
            </a:r>
          </a:p>
          <a:p>
            <a:pPr algn="ctr" defTabSz="914411">
              <a:defRPr/>
            </a:pPr>
            <a:r>
              <a:rPr lang="en-US" sz="1400" kern="0" dirty="0">
                <a:solidFill>
                  <a:prstClr val="black"/>
                </a:solidFill>
                <a:latin typeface="Avenir Next LT Pro" panose="020B0504020202020204" pitchFamily="34" charset="0"/>
                <a:cs typeface="Calibri" panose="020F0502020204030204" pitchFamily="34" charset="0"/>
              </a:rPr>
              <a:t>79 DIO3 inhibitors, </a:t>
            </a:r>
          </a:p>
          <a:p>
            <a:pPr algn="ctr" defTabSz="914411">
              <a:defRPr/>
            </a:pPr>
            <a:r>
              <a:rPr lang="en-US" sz="1400" kern="0" dirty="0">
                <a:solidFill>
                  <a:prstClr val="black"/>
                </a:solidFill>
                <a:latin typeface="Avenir Next LT Pro" panose="020B0504020202020204" pitchFamily="34" charset="0"/>
                <a:cs typeface="Calibri" panose="020F0502020204030204" pitchFamily="34" charset="0"/>
              </a:rPr>
              <a:t>12 IYD inhibitors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DFA4F3-2CA7-9EEA-6D4E-9FC905F9B3C9}"/>
              </a:ext>
            </a:extLst>
          </p:cNvPr>
          <p:cNvSpPr txBox="1"/>
          <p:nvPr/>
        </p:nvSpPr>
        <p:spPr>
          <a:xfrm>
            <a:off x="849984" y="1901626"/>
            <a:ext cx="242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2007 total chemicals screened in single-conc (</a:t>
            </a:r>
            <a:r>
              <a:rPr lang="en-US" sz="1400" dirty="0" err="1">
                <a:latin typeface="Avenir Next LT Pro" panose="020B0504020202020204" pitchFamily="34" charset="0"/>
              </a:rPr>
              <a:t>sc</a:t>
            </a:r>
            <a:r>
              <a:rPr lang="en-US" sz="1400" dirty="0">
                <a:latin typeface="Avenir Next LT Pro" panose="020B0504020202020204" pitchFamily="34" charset="0"/>
              </a:rPr>
              <a:t>)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D89976F-3EAE-7A09-F64A-F156F72DA967}"/>
              </a:ext>
            </a:extLst>
          </p:cNvPr>
          <p:cNvSpPr/>
          <p:nvPr/>
        </p:nvSpPr>
        <p:spPr>
          <a:xfrm flipV="1">
            <a:off x="1915430" y="2496664"/>
            <a:ext cx="198404" cy="173049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87C59-F48A-EC45-DF9C-F824CAC6FF58}"/>
              </a:ext>
            </a:extLst>
          </p:cNvPr>
          <p:cNvSpPr txBox="1"/>
          <p:nvPr/>
        </p:nvSpPr>
        <p:spPr>
          <a:xfrm>
            <a:off x="856946" y="2654784"/>
            <a:ext cx="2343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523 chemicals with &gt;20% inhibition in at least one assay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0D4AF14-9207-5C3F-B95E-049705F81C39}"/>
              </a:ext>
            </a:extLst>
          </p:cNvPr>
          <p:cNvSpPr/>
          <p:nvPr/>
        </p:nvSpPr>
        <p:spPr>
          <a:xfrm flipV="1">
            <a:off x="1915430" y="3425017"/>
            <a:ext cx="198404" cy="173049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3DF677-8AE5-1978-C3F5-A1221B5A4E43}"/>
              </a:ext>
            </a:extLst>
          </p:cNvPr>
          <p:cNvSpPr txBox="1"/>
          <p:nvPr/>
        </p:nvSpPr>
        <p:spPr>
          <a:xfrm>
            <a:off x="856946" y="3639404"/>
            <a:ext cx="2343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327 chemicals screened in multi-conc (mc) 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87D014D5-3C9B-AA73-744A-0A1FF7E0B979}"/>
              </a:ext>
            </a:extLst>
          </p:cNvPr>
          <p:cNvSpPr/>
          <p:nvPr/>
        </p:nvSpPr>
        <p:spPr>
          <a:xfrm>
            <a:off x="1880915" y="4239977"/>
            <a:ext cx="267435" cy="41108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391B82-E113-6052-F878-87AC64265015}"/>
              </a:ext>
            </a:extLst>
          </p:cNvPr>
          <p:cNvSpPr txBox="1"/>
          <p:nvPr/>
        </p:nvSpPr>
        <p:spPr>
          <a:xfrm>
            <a:off x="8635233" y="1927425"/>
            <a:ext cx="2343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Prioritization based on maternal-fetal exposure using HTTK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BBF8B0A-2E95-52A1-961C-83528AB8C482}"/>
              </a:ext>
            </a:extLst>
          </p:cNvPr>
          <p:cNvCxnSpPr>
            <a:cxnSpLocks/>
          </p:cNvCxnSpPr>
          <p:nvPr/>
        </p:nvCxnSpPr>
        <p:spPr>
          <a:xfrm>
            <a:off x="5870088" y="1605516"/>
            <a:ext cx="0" cy="520548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B418017-20B6-193A-A4DE-4BDCD4EBDC26}"/>
              </a:ext>
            </a:extLst>
          </p:cNvPr>
          <p:cNvCxnSpPr>
            <a:cxnSpLocks/>
          </p:cNvCxnSpPr>
          <p:nvPr/>
        </p:nvCxnSpPr>
        <p:spPr>
          <a:xfrm>
            <a:off x="8463847" y="1605516"/>
            <a:ext cx="0" cy="520548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50BF3FB-AF8B-26FD-9AC5-2F679DA732BA}"/>
              </a:ext>
            </a:extLst>
          </p:cNvPr>
          <p:cNvCxnSpPr>
            <a:cxnSpLocks/>
          </p:cNvCxnSpPr>
          <p:nvPr/>
        </p:nvCxnSpPr>
        <p:spPr>
          <a:xfrm>
            <a:off x="8378459" y="6162651"/>
            <a:ext cx="3274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47336B65-2979-45AC-1A1E-60FABA0AE5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26757" y="5907009"/>
            <a:ext cx="408230" cy="115003"/>
          </a:xfrm>
          <a:prstGeom prst="curvedConnector3">
            <a:avLst>
              <a:gd name="adj1" fmla="val 9799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242C9CC5-770B-DEAA-D76C-9F1173E32D87}"/>
              </a:ext>
            </a:extLst>
          </p:cNvPr>
          <p:cNvSpPr/>
          <p:nvPr/>
        </p:nvSpPr>
        <p:spPr>
          <a:xfrm flipV="1">
            <a:off x="4476934" y="2496664"/>
            <a:ext cx="198404" cy="173049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938B19-32C4-3727-C4F1-836C830105FC}"/>
              </a:ext>
            </a:extLst>
          </p:cNvPr>
          <p:cNvSpPr txBox="1"/>
          <p:nvPr/>
        </p:nvSpPr>
        <p:spPr>
          <a:xfrm>
            <a:off x="3443777" y="2762506"/>
            <a:ext cx="2343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Next LT Pro" panose="020B0504020202020204" pitchFamily="34" charset="0"/>
              </a:rPr>
              <a:t>Filter for sources of assay interference or pan-activity</a:t>
            </a:r>
          </a:p>
        </p:txBody>
      </p:sp>
    </p:spTree>
    <p:extLst>
      <p:ext uri="{BB962C8B-B14F-4D97-AF65-F5344CB8AC3E}">
        <p14:creationId xmlns:p14="http://schemas.microsoft.com/office/powerpoint/2010/main" val="31217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364</TotalTime>
  <Words>112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Truong, Kimberly (she/her/hers)</dc:creator>
  <cp:lastModifiedBy>Truong, Kimberly</cp:lastModifiedBy>
  <cp:revision>4</cp:revision>
  <dcterms:created xsi:type="dcterms:W3CDTF">2024-04-16T15:23:09Z</dcterms:created>
  <dcterms:modified xsi:type="dcterms:W3CDTF">2025-04-03T21:51:30Z</dcterms:modified>
</cp:coreProperties>
</file>